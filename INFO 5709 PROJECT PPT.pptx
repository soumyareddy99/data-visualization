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72" autoAdjust="0"/>
    <p:restoredTop sz="95256" autoAdjust="0"/>
  </p:normalViewPr>
  <p:slideViewPr>
    <p:cSldViewPr snapToGrid="0">
      <p:cViewPr varScale="1">
        <p:scale>
          <a:sx n="82" d="100"/>
          <a:sy n="82" d="100"/>
        </p:scale>
        <p:origin x="7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12/13/2023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12/13/2023</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kaggle.com/datasets/nelgiriyewithana/world-educational-data/da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colab.research.google.com/drive/1JPoHrvgkhcqxaBZi595htsJfykFUwkDb?usp=shari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en.wikipedia.org/wiki/Doi_(identifier)" TargetMode="External"/><Relationship Id="rId3" Type="http://schemas.openxmlformats.org/officeDocument/2006/relationships/hyperlink" Target="https://en.wikipedia.org/wiki/Global_education#cite_ref-4" TargetMode="External"/><Relationship Id="rId7" Type="http://schemas.openxmlformats.org/officeDocument/2006/relationships/hyperlink" Target="http://www.nea.org/home/37297.htm" TargetMode="External"/><Relationship Id="rId2" Type="http://schemas.openxmlformats.org/officeDocument/2006/relationships/hyperlink" Target="http://www.globalteacher.org.uk/global_ed.htm" TargetMode="External"/><Relationship Id="rId1" Type="http://schemas.openxmlformats.org/officeDocument/2006/relationships/slideLayout" Target="../slideLayouts/slideLayout2.xml"/><Relationship Id="rId6" Type="http://schemas.openxmlformats.org/officeDocument/2006/relationships/hyperlink" Target="https://en.wikipedia.org/wiki/Global_education#cite_ref-5" TargetMode="External"/><Relationship Id="rId11" Type="http://schemas.openxmlformats.org/officeDocument/2006/relationships/hyperlink" Target="https://api.semanticscholar.org/CorpusID:143384285" TargetMode="External"/><Relationship Id="rId5" Type="http://schemas.openxmlformats.org/officeDocument/2006/relationships/hyperlink" Target="http://glen-europe.org/?page_id=17" TargetMode="External"/><Relationship Id="rId10" Type="http://schemas.openxmlformats.org/officeDocument/2006/relationships/hyperlink" Target="https://en.wikipedia.org/wiki/S2CID_(identifier)" TargetMode="External"/><Relationship Id="rId4" Type="http://schemas.openxmlformats.org/officeDocument/2006/relationships/hyperlink" Target="https://web.archive.org/web/20120730081117/http:/glen-europe.org/?page_id=17" TargetMode="External"/><Relationship Id="rId9" Type="http://schemas.openxmlformats.org/officeDocument/2006/relationships/hyperlink" Target="https://doi.org/10.1080%2F09585176.2013.87008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8D017-9871-9477-5AFF-0ADC1A50A515}"/>
              </a:ext>
            </a:extLst>
          </p:cNvPr>
          <p:cNvSpPr>
            <a:spLocks noGrp="1"/>
          </p:cNvSpPr>
          <p:nvPr>
            <p:ph type="ctrTitle"/>
          </p:nvPr>
        </p:nvSpPr>
        <p:spPr>
          <a:xfrm>
            <a:off x="1595269" y="648070"/>
            <a:ext cx="9001462" cy="2861893"/>
          </a:xfrm>
        </p:spPr>
        <p:txBody>
          <a:bodyPr>
            <a:normAutofit fontScale="90000"/>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INFO 5709 – Data Visualization AND COMMUNICATION</a:t>
            </a:r>
            <a:br>
              <a:rPr lang="en-US" sz="4000" b="1" dirty="0">
                <a:effectLst/>
                <a:latin typeface="Times New Roman" panose="02020603050405020304" pitchFamily="18" charset="0"/>
                <a:ea typeface="Calibri" panose="020F0502020204030204" pitchFamily="34" charset="0"/>
                <a:cs typeface="Times New Roman" panose="02020603050405020304" pitchFamily="18" charset="0"/>
              </a:rPr>
            </a:br>
            <a:br>
              <a:rPr lang="en-US" sz="4000" dirty="0">
                <a:effectLst/>
                <a:latin typeface="Calibri" panose="020F0502020204030204" pitchFamily="34" charset="0"/>
                <a:ea typeface="Calibri" panose="020F0502020204030204" pitchFamily="34" charset="0"/>
                <a:cs typeface="Times New Roman" panose="02020603050405020304" pitchFamily="18" charset="0"/>
              </a:rPr>
            </a:b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Topic: WORLD EDUCATIONAL DATA </a:t>
            </a:r>
            <a:br>
              <a:rPr lang="en-US" sz="48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9A918146-A5A6-1DD2-93AF-CC38575A6DFC}"/>
              </a:ext>
            </a:extLst>
          </p:cNvPr>
          <p:cNvSpPr>
            <a:spLocks noGrp="1"/>
          </p:cNvSpPr>
          <p:nvPr>
            <p:ph type="subTitle" idx="1"/>
          </p:nvPr>
        </p:nvSpPr>
        <p:spPr/>
        <p:txBody>
          <a:bodyPr/>
          <a:lstStyle/>
          <a:p>
            <a:pPr algn="r"/>
            <a:r>
              <a:rPr lang="en-US" dirty="0">
                <a:latin typeface="Times New Roman" panose="02020603050405020304" pitchFamily="18" charset="0"/>
                <a:cs typeface="Times New Roman" panose="02020603050405020304" pitchFamily="18" charset="0"/>
              </a:rPr>
              <a:t>Soumya </a:t>
            </a:r>
            <a:r>
              <a:rPr lang="en-US" dirty="0" err="1">
                <a:latin typeface="Times New Roman" panose="02020603050405020304" pitchFamily="18" charset="0"/>
                <a:cs typeface="Times New Roman" panose="02020603050405020304" pitchFamily="18" charset="0"/>
              </a:rPr>
              <a:t>Vardhana</a:t>
            </a:r>
            <a:r>
              <a:rPr lang="en-US" dirty="0">
                <a:latin typeface="Times New Roman" panose="02020603050405020304" pitchFamily="18" charset="0"/>
                <a:cs typeface="Times New Roman" panose="02020603050405020304" pitchFamily="18" charset="0"/>
              </a:rPr>
              <a:t> Gari</a:t>
            </a:r>
          </a:p>
          <a:p>
            <a:pPr algn="r"/>
            <a:r>
              <a:rPr lang="en-US" dirty="0">
                <a:latin typeface="Times New Roman" panose="02020603050405020304" pitchFamily="18" charset="0"/>
                <a:cs typeface="Times New Roman" panose="02020603050405020304" pitchFamily="18" charset="0"/>
              </a:rPr>
              <a:t>11711707</a:t>
            </a:r>
          </a:p>
          <a:p>
            <a:pPr algn="r"/>
            <a:r>
              <a:rPr lang="en-US" sz="2400" dirty="0">
                <a:latin typeface="Times New Roman" panose="02020603050405020304" pitchFamily="18" charset="0"/>
                <a:cs typeface="Times New Roman" panose="02020603050405020304" pitchFamily="18" charset="0"/>
              </a:rPr>
              <a:t>Professor: Mr. </a:t>
            </a:r>
            <a:r>
              <a:rPr lang="en-US" sz="2400" dirty="0" err="1">
                <a:latin typeface="Times New Roman" panose="02020603050405020304" pitchFamily="18" charset="0"/>
                <a:cs typeface="Times New Roman" panose="02020603050405020304" pitchFamily="18" charset="0"/>
              </a:rPr>
              <a:t>Gahangir</a:t>
            </a:r>
            <a:r>
              <a:rPr lang="en-US" sz="2400" dirty="0">
                <a:latin typeface="Times New Roman" panose="02020603050405020304" pitchFamily="18" charset="0"/>
                <a:cs typeface="Times New Roman" panose="02020603050405020304" pitchFamily="18" charset="0"/>
              </a:rPr>
              <a:t> Hossain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120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6F4A-B6F0-624B-2032-3BFCF7F251C0}"/>
              </a:ext>
            </a:extLst>
          </p:cNvPr>
          <p:cNvSpPr>
            <a:spLocks noGrp="1"/>
          </p:cNvSpPr>
          <p:nvPr>
            <p:ph type="title"/>
          </p:nvPr>
        </p:nvSpPr>
        <p:spPr>
          <a:xfrm>
            <a:off x="913795" y="609600"/>
            <a:ext cx="10353761" cy="819705"/>
          </a:xfrm>
        </p:spPr>
        <p:txBody>
          <a:bodyPr>
            <a:normAutofit/>
          </a:bodyPr>
          <a:lstStyle/>
          <a:p>
            <a:r>
              <a:rPr lang="en-US" sz="3600" dirty="0">
                <a:latin typeface="Times New Roman" panose="02020603050405020304" pitchFamily="18" charset="0"/>
                <a:cs typeface="Times New Roman" panose="02020603050405020304" pitchFamily="18" charset="0"/>
              </a:rPr>
              <a:t>Contents: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D66433-E042-A4FF-43C0-DDC3ECC2B561}"/>
              </a:ext>
            </a:extLst>
          </p:cNvPr>
          <p:cNvSpPr>
            <a:spLocks noGrp="1"/>
          </p:cNvSpPr>
          <p:nvPr>
            <p:ph idx="1"/>
          </p:nvPr>
        </p:nvSpPr>
        <p:spPr>
          <a:xfrm>
            <a:off x="913795" y="1322774"/>
            <a:ext cx="10353762" cy="5292630"/>
          </a:xfrm>
        </p:spPr>
        <p:txBody>
          <a:bodyPr>
            <a:noAutofit/>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Cleaning and Exploring the dataset.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Exploratory Data Analysis</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Data Visualization Graphs – Hypothesis</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Scatter Plot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Line Chart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Bar Chart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Symbol Maps</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Side By Side Chart</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Dashboard</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32060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B341D-EBD3-A7BB-8A46-05B3A2600B01}"/>
              </a:ext>
            </a:extLst>
          </p:cNvPr>
          <p:cNvSpPr>
            <a:spLocks noGrp="1"/>
          </p:cNvSpPr>
          <p:nvPr>
            <p:ph type="title"/>
          </p:nvPr>
        </p:nvSpPr>
        <p:spPr>
          <a:xfrm>
            <a:off x="913795" y="609600"/>
            <a:ext cx="10353761" cy="864637"/>
          </a:xfrm>
        </p:spPr>
        <p:txBody>
          <a:bodyPr>
            <a:normAutofit/>
          </a:bodyPr>
          <a:lstStyle/>
          <a:p>
            <a:r>
              <a:rPr lang="en-US" sz="3600" dirty="0">
                <a:latin typeface="Times New Roman" panose="02020603050405020304" pitchFamily="18" charset="0"/>
                <a:cs typeface="Times New Roman" panose="02020603050405020304" pitchFamily="18" charset="0"/>
              </a:rPr>
              <a:t>Introduction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B66625-526A-BFFA-384E-BA86D3214F9E}"/>
              </a:ext>
            </a:extLst>
          </p:cNvPr>
          <p:cNvSpPr>
            <a:spLocks noGrp="1"/>
          </p:cNvSpPr>
          <p:nvPr>
            <p:ph idx="1"/>
          </p:nvPr>
        </p:nvSpPr>
        <p:spPr>
          <a:xfrm>
            <a:off x="913795" y="1726163"/>
            <a:ext cx="10353762" cy="4065037"/>
          </a:xfrm>
        </p:spPr>
        <p:txBody>
          <a:bodyPr/>
          <a:lstStyle/>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chosen dataset global education contains an extensive perspective of educational systems worldwide, offering significant insight regarding the evolving context of educational institutions in numerous countries and territories. </a:t>
            </a: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Generally, it covers significant factors for things like not attending schools, rate of graduation, skill levels of difficulty, levels of literacy, fertility rates, and about both elementary and secondary school admission individuals, which comprises quite a few issues related to education. </a:t>
            </a: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collection of data represents a valuable tool to perceptive intellectuals, motivated instructors, ultimately enlightened officials, presenting the knowledge and skills to individuals to begin a groundbreaking method of monitoring, evolving, and changing educational organizations beyond the world.</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04345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B60D-4931-BCFC-DBFE-C3CBAD466BDE}"/>
              </a:ext>
            </a:extLst>
          </p:cNvPr>
          <p:cNvSpPr>
            <a:spLocks noGrp="1"/>
          </p:cNvSpPr>
          <p:nvPr>
            <p:ph type="title"/>
          </p:nvPr>
        </p:nvSpPr>
        <p:spPr>
          <a:xfrm>
            <a:off x="913795" y="609601"/>
            <a:ext cx="10353761" cy="855306"/>
          </a:xfrm>
        </p:spPr>
        <p:txBody>
          <a:bodyPr>
            <a:normAutofit/>
          </a:bodyPr>
          <a:lstStyle/>
          <a:p>
            <a:r>
              <a:rPr lang="en-US" sz="3600" dirty="0">
                <a:latin typeface="Times New Roman" panose="02020603050405020304" pitchFamily="18" charset="0"/>
                <a:cs typeface="Times New Roman" panose="02020603050405020304" pitchFamily="18" charset="0"/>
              </a:rPr>
              <a:t>Cleaning and exploring the dataset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4A98E1-E30B-9553-1A01-9FBCE40C7E8B}"/>
              </a:ext>
            </a:extLst>
          </p:cNvPr>
          <p:cNvSpPr>
            <a:spLocks noGrp="1"/>
          </p:cNvSpPr>
          <p:nvPr>
            <p:ph idx="1"/>
          </p:nvPr>
        </p:nvSpPr>
        <p:spPr>
          <a:xfrm>
            <a:off x="913795" y="1614196"/>
            <a:ext cx="10353762" cy="5075853"/>
          </a:xfrm>
        </p:spPr>
        <p:txBody>
          <a:bodyPr/>
          <a:lstStyle/>
          <a:p>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The dataset which I have chosen is from Kaggle. The dataset consists the information about educational systems of various countries from different parts of world. </a:t>
            </a:r>
          </a:p>
          <a:p>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This dataset consists of 203 rows which provides data about 202 countries. </a:t>
            </a:r>
            <a:r>
              <a:rPr lang="en-US" sz="1800" dirty="0">
                <a:effectLst/>
                <a:latin typeface="Times New Roman" panose="02020603050405020304" pitchFamily="18" charset="0"/>
                <a:ea typeface="Calibri" panose="020F0502020204030204" pitchFamily="34" charset="0"/>
              </a:rPr>
              <a:t>This dataset consists of about 29 attributes.</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 The link is provided in the below following: </a:t>
            </a:r>
            <a:r>
              <a:rPr lang="en-US" sz="1800" u="sng" kern="100" dirty="0">
                <a:effectLst/>
                <a:latin typeface="Times New Roman" panose="02020603050405020304" pitchFamily="18"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https://www.kaggle.com/datasets/nelgiriyewithana/world-educational-data/data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To read Global_Education.csv file in Python, the Pandas library is used as represented below.</a:t>
            </a:r>
          </a:p>
          <a:p>
            <a:pPr marL="0" indent="0">
              <a:buNone/>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BED2C98C-AFCA-DE5F-D7DB-276E66F0FA0A}"/>
              </a:ext>
            </a:extLst>
          </p:cNvPr>
          <p:cNvPicPr>
            <a:picLocks noChangeAspect="1"/>
          </p:cNvPicPr>
          <p:nvPr/>
        </p:nvPicPr>
        <p:blipFill>
          <a:blip r:embed="rId3"/>
          <a:stretch>
            <a:fillRect/>
          </a:stretch>
        </p:blipFill>
        <p:spPr>
          <a:xfrm>
            <a:off x="1715143" y="4081653"/>
            <a:ext cx="8481795" cy="2324301"/>
          </a:xfrm>
          <a:prstGeom prst="rect">
            <a:avLst/>
          </a:prstGeom>
        </p:spPr>
      </p:pic>
    </p:spTree>
    <p:extLst>
      <p:ext uri="{BB962C8B-B14F-4D97-AF65-F5344CB8AC3E}">
        <p14:creationId xmlns:p14="http://schemas.microsoft.com/office/powerpoint/2010/main" val="1400724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9F9B5-96F9-93EE-FCD5-A04BDCBEA10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Exploratory Data ANALYSIS - PYTHON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33CF5B-9010-5D6D-A9C3-D2D83ACEFCEF}"/>
              </a:ext>
            </a:extLst>
          </p:cNvPr>
          <p:cNvSpPr>
            <a:spLocks noGrp="1"/>
          </p:cNvSpPr>
          <p:nvPr>
            <p:ph idx="1"/>
          </p:nvPr>
        </p:nvSpPr>
        <p:spPr/>
        <p:txBody>
          <a:bodyPr/>
          <a:lstStyle/>
          <a:p>
            <a:pPr marL="0" indent="0">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To perform exploratory data analysis, let us consider some countries and regions from the dataset and perform analysis on evaluating the status of education identifying significant factors. Some of the countries which are chosen to analyze the data are India, Japan, Russia, South Korea, Switzerland, Australia.</a:t>
            </a: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pic>
        <p:nvPicPr>
          <p:cNvPr id="5" name="Picture 4">
            <a:extLst>
              <a:ext uri="{FF2B5EF4-FFF2-40B4-BE49-F238E27FC236}">
                <a16:creationId xmlns:a16="http://schemas.microsoft.com/office/drawing/2014/main" id="{D90095D4-AFA2-ADF0-84D3-BC3C219A96D8}"/>
              </a:ext>
            </a:extLst>
          </p:cNvPr>
          <p:cNvPicPr>
            <a:picLocks noChangeAspect="1"/>
          </p:cNvPicPr>
          <p:nvPr/>
        </p:nvPicPr>
        <p:blipFill>
          <a:blip r:embed="rId2"/>
          <a:stretch>
            <a:fillRect/>
          </a:stretch>
        </p:blipFill>
        <p:spPr>
          <a:xfrm>
            <a:off x="1442510" y="3429000"/>
            <a:ext cx="9045724" cy="1844200"/>
          </a:xfrm>
          <a:prstGeom prst="rect">
            <a:avLst/>
          </a:prstGeom>
        </p:spPr>
      </p:pic>
    </p:spTree>
    <p:extLst>
      <p:ext uri="{BB962C8B-B14F-4D97-AF65-F5344CB8AC3E}">
        <p14:creationId xmlns:p14="http://schemas.microsoft.com/office/powerpoint/2010/main" val="2935383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489E-CF80-B8FE-CB1E-8E312ED9592C}"/>
              </a:ext>
            </a:extLst>
          </p:cNvPr>
          <p:cNvSpPr>
            <a:spLocks noGrp="1"/>
          </p:cNvSpPr>
          <p:nvPr>
            <p:ph type="title"/>
          </p:nvPr>
        </p:nvSpPr>
        <p:spPr>
          <a:xfrm>
            <a:off x="913795" y="289250"/>
            <a:ext cx="10353761" cy="2388636"/>
          </a:xfrm>
        </p:spPr>
        <p:txBody>
          <a:bodyPr>
            <a:normAutofit/>
          </a:bodyPr>
          <a:lstStyle/>
          <a:p>
            <a:r>
              <a:rPr lang="en-US" sz="3600" dirty="0">
                <a:latin typeface="Times New Roman" panose="02020603050405020304" pitchFamily="18" charset="0"/>
                <a:cs typeface="Times New Roman" panose="02020603050405020304" pitchFamily="18" charset="0"/>
              </a:rPr>
              <a:t>EDA - OOSR FOR PRE-PRIMARY AGE AND PROFICIENCY IN READING AND MATH FOR GRADE 2-3 STUDENTS</a:t>
            </a:r>
            <a:endParaRPr lang="en-IN"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A13B5591-BCB9-E9AB-6071-3A68D5DD7BB0}"/>
              </a:ext>
            </a:extLst>
          </p:cNvPr>
          <p:cNvPicPr>
            <a:picLocks noGrp="1" noChangeAspect="1"/>
          </p:cNvPicPr>
          <p:nvPr>
            <p:ph idx="1"/>
          </p:nvPr>
        </p:nvPicPr>
        <p:blipFill rotWithShape="1">
          <a:blip r:embed="rId2"/>
          <a:srcRect t="21489" b="8679"/>
          <a:stretch/>
        </p:blipFill>
        <p:spPr bwMode="auto">
          <a:xfrm>
            <a:off x="1237705" y="3013789"/>
            <a:ext cx="4491291" cy="2804404"/>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D4736979-ECB9-1FCE-A871-04AE9D182C24}"/>
              </a:ext>
            </a:extLst>
          </p:cNvPr>
          <p:cNvPicPr>
            <a:picLocks noChangeAspect="1"/>
          </p:cNvPicPr>
          <p:nvPr/>
        </p:nvPicPr>
        <p:blipFill>
          <a:blip r:embed="rId3"/>
          <a:stretch>
            <a:fillRect/>
          </a:stretch>
        </p:blipFill>
        <p:spPr>
          <a:xfrm>
            <a:off x="6669393" y="3013790"/>
            <a:ext cx="4395597" cy="2804403"/>
          </a:xfrm>
          <a:prstGeom prst="rect">
            <a:avLst/>
          </a:prstGeom>
        </p:spPr>
      </p:pic>
    </p:spTree>
    <p:extLst>
      <p:ext uri="{BB962C8B-B14F-4D97-AF65-F5344CB8AC3E}">
        <p14:creationId xmlns:p14="http://schemas.microsoft.com/office/powerpoint/2010/main" val="4076591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9E8EA-CF88-97F9-ADA7-03D15A6CF086}"/>
              </a:ext>
            </a:extLst>
          </p:cNvPr>
          <p:cNvSpPr>
            <a:spLocks noGrp="1"/>
          </p:cNvSpPr>
          <p:nvPr>
            <p:ph type="title"/>
          </p:nvPr>
        </p:nvSpPr>
        <p:spPr/>
        <p:txBody>
          <a:bodyPr>
            <a:noAutofit/>
          </a:bodyPr>
          <a:lstStyle/>
          <a:p>
            <a:r>
              <a:rPr lang="en-US" sz="3600" dirty="0">
                <a:latin typeface="Times New Roman" panose="02020603050405020304" pitchFamily="18" charset="0"/>
                <a:cs typeface="Times New Roman" panose="02020603050405020304" pitchFamily="18" charset="0"/>
              </a:rPr>
              <a:t>EDA – BIRTH RATE, UNEMPLOYMENT RATE, GROSS PRIMARY EDUCATION AND GROSS TERTIARY EDUCATION ENROLLMENTS</a:t>
            </a:r>
            <a:endParaRPr lang="en-IN" sz="3600" dirty="0"/>
          </a:p>
        </p:txBody>
      </p:sp>
      <p:pic>
        <p:nvPicPr>
          <p:cNvPr id="4" name="Content Placeholder 3">
            <a:extLst>
              <a:ext uri="{FF2B5EF4-FFF2-40B4-BE49-F238E27FC236}">
                <a16:creationId xmlns:a16="http://schemas.microsoft.com/office/drawing/2014/main" id="{A86DE0FB-273C-3D43-CA86-3D45ECC14A47}"/>
              </a:ext>
            </a:extLst>
          </p:cNvPr>
          <p:cNvPicPr>
            <a:picLocks noGrp="1" noChangeAspect="1"/>
          </p:cNvPicPr>
          <p:nvPr>
            <p:ph idx="1"/>
          </p:nvPr>
        </p:nvPicPr>
        <p:blipFill>
          <a:blip r:embed="rId2"/>
          <a:stretch>
            <a:fillRect/>
          </a:stretch>
        </p:blipFill>
        <p:spPr>
          <a:xfrm>
            <a:off x="982666" y="2317706"/>
            <a:ext cx="3205478" cy="3812506"/>
          </a:xfrm>
          <a:prstGeom prst="rect">
            <a:avLst/>
          </a:prstGeom>
        </p:spPr>
      </p:pic>
      <p:pic>
        <p:nvPicPr>
          <p:cNvPr id="5" name="Picture 4">
            <a:extLst>
              <a:ext uri="{FF2B5EF4-FFF2-40B4-BE49-F238E27FC236}">
                <a16:creationId xmlns:a16="http://schemas.microsoft.com/office/drawing/2014/main" id="{2509F8A3-63A4-C68F-60E1-B149F49AE294}"/>
              </a:ext>
            </a:extLst>
          </p:cNvPr>
          <p:cNvPicPr>
            <a:picLocks noChangeAspect="1"/>
          </p:cNvPicPr>
          <p:nvPr/>
        </p:nvPicPr>
        <p:blipFill>
          <a:blip r:embed="rId3"/>
          <a:stretch>
            <a:fillRect/>
          </a:stretch>
        </p:blipFill>
        <p:spPr>
          <a:xfrm>
            <a:off x="8792855" y="2317706"/>
            <a:ext cx="3113006" cy="3812506"/>
          </a:xfrm>
          <a:prstGeom prst="rect">
            <a:avLst/>
          </a:prstGeom>
        </p:spPr>
      </p:pic>
      <p:pic>
        <p:nvPicPr>
          <p:cNvPr id="6" name="Picture 5">
            <a:extLst>
              <a:ext uri="{FF2B5EF4-FFF2-40B4-BE49-F238E27FC236}">
                <a16:creationId xmlns:a16="http://schemas.microsoft.com/office/drawing/2014/main" id="{24BEED9C-A1C4-53EA-03CC-E9D6F326606D}"/>
              </a:ext>
            </a:extLst>
          </p:cNvPr>
          <p:cNvPicPr>
            <a:picLocks noChangeAspect="1"/>
          </p:cNvPicPr>
          <p:nvPr/>
        </p:nvPicPr>
        <p:blipFill>
          <a:blip r:embed="rId4"/>
          <a:stretch>
            <a:fillRect/>
          </a:stretch>
        </p:blipFill>
        <p:spPr>
          <a:xfrm>
            <a:off x="4474894" y="2973733"/>
            <a:ext cx="4031211" cy="2500451"/>
          </a:xfrm>
          <a:prstGeom prst="rect">
            <a:avLst/>
          </a:prstGeom>
        </p:spPr>
      </p:pic>
    </p:spTree>
    <p:extLst>
      <p:ext uri="{BB962C8B-B14F-4D97-AF65-F5344CB8AC3E}">
        <p14:creationId xmlns:p14="http://schemas.microsoft.com/office/powerpoint/2010/main" val="625475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CFED-4AB2-5788-746E-3F449BA8883F}"/>
              </a:ext>
            </a:extLst>
          </p:cNvPr>
          <p:cNvSpPr>
            <a:spLocks noGrp="1"/>
          </p:cNvSpPr>
          <p:nvPr>
            <p:ph type="title"/>
          </p:nvPr>
        </p:nvSpPr>
        <p:spPr/>
        <p:txBody>
          <a:bodyPr/>
          <a:lstStyle/>
          <a:p>
            <a:r>
              <a:rPr lang="en-US" dirty="0"/>
              <a:t>DATA VISUALIZATION - HYPOTHESIS</a:t>
            </a:r>
            <a:endParaRPr lang="en-IN" dirty="0"/>
          </a:p>
        </p:txBody>
      </p:sp>
      <p:sp>
        <p:nvSpPr>
          <p:cNvPr id="3" name="Content Placeholder 2">
            <a:extLst>
              <a:ext uri="{FF2B5EF4-FFF2-40B4-BE49-F238E27FC236}">
                <a16:creationId xmlns:a16="http://schemas.microsoft.com/office/drawing/2014/main" id="{DFA5B585-CCB0-4C48-4F0E-6A7A254BE384}"/>
              </a:ext>
            </a:extLst>
          </p:cNvPr>
          <p:cNvSpPr>
            <a:spLocks noGrp="1"/>
          </p:cNvSpPr>
          <p:nvPr>
            <p:ph idx="1"/>
          </p:nvPr>
        </p:nvSpPr>
        <p:spPr>
          <a:xfrm>
            <a:off x="913794" y="2170709"/>
            <a:ext cx="10353762" cy="3695136"/>
          </a:xfrm>
        </p:spPr>
        <p:txBody>
          <a:bodyPr/>
          <a:lstStyle/>
          <a:p>
            <a:pPr marL="342900" marR="0" lvl="0" indent="-342900" algn="just">
              <a:lnSpc>
                <a:spcPct val="150000"/>
              </a:lnSpc>
              <a:spcBef>
                <a:spcPts val="0"/>
              </a:spcBef>
              <a:spcAft>
                <a:spcPts val="0"/>
              </a:spcAft>
              <a:buFont typeface="+mj-lt"/>
              <a:buAutoNum type="arabicPeriod"/>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Is there any relationship between birth rate and gross primary and tertiary education enrollments?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What is the average proficiency of grade 2-3 students in math and reading in each region?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Identify the out of school rates for upper secondary age male and female and analyze the highest and lowest among the countries.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Using interactive filters, find out and highlight all the measure values for the following countries chosen.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800"/>
              </a:spcAft>
              <a:buFont typeface="+mj-lt"/>
              <a:buAutoNum type="arabicPeriod"/>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Find out the literacy rate in male and female for the countries chosen with adding interactive filter, Create a dashboard to display India literacy rate in youth from ages 15-24.</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14009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B7064-B1DD-9786-72AD-DB72F0699984}"/>
              </a:ext>
            </a:extLst>
          </p:cNvPr>
          <p:cNvSpPr>
            <a:spLocks noGrp="1"/>
          </p:cNvSpPr>
          <p:nvPr>
            <p:ph type="title"/>
          </p:nvPr>
        </p:nvSpPr>
        <p:spPr>
          <a:xfrm>
            <a:off x="913795" y="609601"/>
            <a:ext cx="10353761" cy="911290"/>
          </a:xfrm>
        </p:spPr>
        <p:txBody>
          <a:bodyPr>
            <a:normAutofit/>
          </a:bodyPr>
          <a:lstStyle/>
          <a:p>
            <a:r>
              <a:rPr lang="en-US" sz="3600" dirty="0">
                <a:latin typeface="Times New Roman" panose="02020603050405020304" pitchFamily="18" charset="0"/>
                <a:cs typeface="Times New Roman" panose="02020603050405020304" pitchFamily="18" charset="0"/>
              </a:rPr>
              <a:t>TABLEAU – SCATTER PLOT</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E5BAF4-1C6F-72F0-E2B6-468644D4367D}"/>
              </a:ext>
            </a:extLst>
          </p:cNvPr>
          <p:cNvSpPr>
            <a:spLocks noGrp="1"/>
          </p:cNvSpPr>
          <p:nvPr>
            <p:ph idx="1"/>
          </p:nvPr>
        </p:nvSpPr>
        <p:spPr>
          <a:xfrm>
            <a:off x="913795" y="1520891"/>
            <a:ext cx="10353762" cy="4581329"/>
          </a:xfrm>
        </p:spPr>
        <p:txBody>
          <a:bodyPr>
            <a:normAutofit/>
          </a:bodyPr>
          <a:lstStyle/>
          <a:p>
            <a:endParaRPr lang="en-US" dirty="0"/>
          </a:p>
          <a:p>
            <a:endParaRPr lang="en-IN" dirty="0"/>
          </a:p>
          <a:p>
            <a:endParaRPr lang="en-IN" dirty="0"/>
          </a:p>
          <a:p>
            <a:endParaRPr lang="en-IN" dirty="0"/>
          </a:p>
          <a:p>
            <a:endParaRPr lang="en-IN" dirty="0"/>
          </a:p>
          <a:p>
            <a:endParaRPr lang="en-IN" dirty="0"/>
          </a:p>
          <a:p>
            <a:pPr marL="0" indent="0">
              <a:buNone/>
            </a:pPr>
            <a:endParaRPr lang="en-IN" dirty="0"/>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above scatter plot visualization depicts information about birth rate in different countries corresponding to their respective gross primary and gross tertiary education enrollments. With this visualization, the relationship between the attributes is possible. Hence the given above hypothesis is proved right.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CC19AFE5-7449-848B-7F8B-27C17E3A3120}"/>
              </a:ext>
            </a:extLst>
          </p:cNvPr>
          <p:cNvPicPr>
            <a:picLocks noChangeAspect="1"/>
          </p:cNvPicPr>
          <p:nvPr/>
        </p:nvPicPr>
        <p:blipFill>
          <a:blip r:embed="rId2"/>
          <a:stretch>
            <a:fillRect/>
          </a:stretch>
        </p:blipFill>
        <p:spPr>
          <a:xfrm>
            <a:off x="3995746" y="1744825"/>
            <a:ext cx="4200508" cy="2967134"/>
          </a:xfrm>
          <a:prstGeom prst="rect">
            <a:avLst/>
          </a:prstGeom>
        </p:spPr>
      </p:pic>
    </p:spTree>
    <p:extLst>
      <p:ext uri="{BB962C8B-B14F-4D97-AF65-F5344CB8AC3E}">
        <p14:creationId xmlns:p14="http://schemas.microsoft.com/office/powerpoint/2010/main" val="1578942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BBC0A-6677-7D1B-4EC5-EEC597DA6632}"/>
              </a:ext>
            </a:extLst>
          </p:cNvPr>
          <p:cNvSpPr>
            <a:spLocks noGrp="1"/>
          </p:cNvSpPr>
          <p:nvPr>
            <p:ph type="title"/>
          </p:nvPr>
        </p:nvSpPr>
        <p:spPr>
          <a:xfrm>
            <a:off x="913795" y="609600"/>
            <a:ext cx="10353761" cy="715347"/>
          </a:xfrm>
        </p:spPr>
        <p:txBody>
          <a:bodyPr>
            <a:normAutofit/>
          </a:bodyPr>
          <a:lstStyle/>
          <a:p>
            <a:r>
              <a:rPr lang="en-US" sz="3600" dirty="0">
                <a:latin typeface="Times New Roman" panose="02020603050405020304" pitchFamily="18" charset="0"/>
                <a:cs typeface="Times New Roman" panose="02020603050405020304" pitchFamily="18" charset="0"/>
              </a:rPr>
              <a:t>LINE CHART</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358046-9A59-379E-A56A-A3431BDA11E6}"/>
              </a:ext>
            </a:extLst>
          </p:cNvPr>
          <p:cNvSpPr>
            <a:spLocks noGrp="1"/>
          </p:cNvSpPr>
          <p:nvPr>
            <p:ph idx="1"/>
          </p:nvPr>
        </p:nvSpPr>
        <p:spPr>
          <a:xfrm>
            <a:off x="913795" y="1427584"/>
            <a:ext cx="10353762" cy="4609322"/>
          </a:xfrm>
        </p:spPr>
        <p:txBody>
          <a:bodyPr>
            <a:normAutofit fontScale="92500" lnSpcReduction="10000"/>
          </a:bodyPr>
          <a:lstStyle/>
          <a:p>
            <a:endParaRPr lang="en-US" dirty="0"/>
          </a:p>
          <a:p>
            <a:endParaRPr lang="en-IN" dirty="0"/>
          </a:p>
          <a:p>
            <a:endParaRPr lang="en-IN" dirty="0"/>
          </a:p>
          <a:p>
            <a:endParaRPr lang="en-IN" dirty="0"/>
          </a:p>
          <a:p>
            <a:endParaRPr lang="en-IN" dirty="0"/>
          </a:p>
          <a:p>
            <a:endParaRPr lang="en-IN" dirty="0"/>
          </a:p>
          <a:p>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In order to prove the second hypothesis, we created a line chart with the following attributes including </a:t>
            </a:r>
            <a:r>
              <a:rPr lang="en-US" sz="1900" kern="100" dirty="0" err="1">
                <a:effectLst/>
                <a:latin typeface="Times New Roman" panose="02020603050405020304" pitchFamily="18" charset="0"/>
                <a:ea typeface="Calibri" panose="020F0502020204030204" pitchFamily="34" charset="0"/>
                <a:cs typeface="Times New Roman" panose="02020603050405020304" pitchFamily="18" charset="0"/>
              </a:rPr>
              <a:t>Avg_Proficiency</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with Countries and regions. This average proficiency attribute gives the average between grade 2_3 proficiency in math and grade 2_3 proficiency in reading. With this data visualization, the resulted line chart helps us to find the average of proficiency of all the countries selected and it is observed that </a:t>
            </a:r>
            <a:r>
              <a:rPr lang="en-US" sz="1900" b="1" kern="100" dirty="0">
                <a:effectLst/>
                <a:latin typeface="Times New Roman" panose="02020603050405020304" pitchFamily="18" charset="0"/>
                <a:ea typeface="Calibri" panose="020F0502020204030204" pitchFamily="34" charset="0"/>
                <a:cs typeface="Times New Roman" panose="02020603050405020304" pitchFamily="18" charset="0"/>
              </a:rPr>
              <a:t>Australia</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has the highest average proficiency both in math and reading hence, second hypothesis also proves right with the above visualization. </a:t>
            </a:r>
            <a:endParaRPr lang="en-IN" sz="19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55C3B024-625E-0D19-34C7-1128EBCD1737}"/>
              </a:ext>
            </a:extLst>
          </p:cNvPr>
          <p:cNvPicPr>
            <a:picLocks noChangeAspect="1"/>
          </p:cNvPicPr>
          <p:nvPr/>
        </p:nvPicPr>
        <p:blipFill>
          <a:blip r:embed="rId2"/>
          <a:stretch>
            <a:fillRect/>
          </a:stretch>
        </p:blipFill>
        <p:spPr>
          <a:xfrm>
            <a:off x="3849338" y="1654607"/>
            <a:ext cx="4482674" cy="2289025"/>
          </a:xfrm>
          <a:prstGeom prst="rect">
            <a:avLst/>
          </a:prstGeom>
        </p:spPr>
      </p:pic>
    </p:spTree>
    <p:extLst>
      <p:ext uri="{BB962C8B-B14F-4D97-AF65-F5344CB8AC3E}">
        <p14:creationId xmlns:p14="http://schemas.microsoft.com/office/powerpoint/2010/main" val="1219397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430F9-7736-1DDD-7143-D233DD4668D3}"/>
              </a:ext>
            </a:extLst>
          </p:cNvPr>
          <p:cNvSpPr>
            <a:spLocks noGrp="1"/>
          </p:cNvSpPr>
          <p:nvPr>
            <p:ph type="title"/>
          </p:nvPr>
        </p:nvSpPr>
        <p:spPr>
          <a:xfrm>
            <a:off x="913795" y="609600"/>
            <a:ext cx="10353761" cy="864637"/>
          </a:xfrm>
        </p:spPr>
        <p:txBody>
          <a:bodyPr>
            <a:normAutofit/>
          </a:bodyPr>
          <a:lstStyle/>
          <a:p>
            <a:r>
              <a:rPr lang="en-US" sz="3600" dirty="0">
                <a:latin typeface="Times New Roman" panose="02020603050405020304" pitchFamily="18" charset="0"/>
                <a:cs typeface="Times New Roman" panose="02020603050405020304" pitchFamily="18" charset="0"/>
              </a:rPr>
              <a:t>BAR CHART</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D3831A-675A-EB72-00CE-D7273DE20BB8}"/>
              </a:ext>
            </a:extLst>
          </p:cNvPr>
          <p:cNvSpPr>
            <a:spLocks noGrp="1"/>
          </p:cNvSpPr>
          <p:nvPr>
            <p:ph idx="1"/>
          </p:nvPr>
        </p:nvSpPr>
        <p:spPr>
          <a:xfrm>
            <a:off x="913795" y="1474237"/>
            <a:ext cx="10353762" cy="4316963"/>
          </a:xfrm>
        </p:spPr>
        <p:txBody>
          <a:bodyPr>
            <a:normAutofit/>
          </a:bodyPr>
          <a:lstStyle/>
          <a:p>
            <a:endParaRPr lang="en-US" dirty="0"/>
          </a:p>
          <a:p>
            <a:endParaRPr lang="en-IN" dirty="0"/>
          </a:p>
          <a:p>
            <a:endParaRPr lang="en-IN" dirty="0"/>
          </a:p>
          <a:p>
            <a:endParaRPr lang="en-IN" dirty="0"/>
          </a:p>
          <a:p>
            <a:endParaRPr lang="en-IN" dirty="0"/>
          </a:p>
          <a:p>
            <a:pPr marL="0" indent="0">
              <a:buNone/>
            </a:pPr>
            <a:endParaRPr lang="en-IN" dirty="0"/>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above bar chart represents the out of school rate for upper secondary male and female in different countries. It is observed that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India</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country has the highest count of out of school rate observed in female and male of upper secondary age among the other countries.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C3C09459-A865-B2A4-53B7-4637AFA9A15B}"/>
              </a:ext>
            </a:extLst>
          </p:cNvPr>
          <p:cNvPicPr>
            <a:picLocks noChangeAspect="1"/>
          </p:cNvPicPr>
          <p:nvPr/>
        </p:nvPicPr>
        <p:blipFill>
          <a:blip r:embed="rId2"/>
          <a:stretch>
            <a:fillRect/>
          </a:stretch>
        </p:blipFill>
        <p:spPr>
          <a:xfrm>
            <a:off x="2659224" y="1567543"/>
            <a:ext cx="6969968" cy="2669247"/>
          </a:xfrm>
          <a:prstGeom prst="rect">
            <a:avLst/>
          </a:prstGeom>
        </p:spPr>
      </p:pic>
    </p:spTree>
    <p:extLst>
      <p:ext uri="{BB962C8B-B14F-4D97-AF65-F5344CB8AC3E}">
        <p14:creationId xmlns:p14="http://schemas.microsoft.com/office/powerpoint/2010/main" val="2961527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D441-4512-6071-0F4D-9BC0AEEB2C65}"/>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SYMBOL MAPS – USING HIGHLIGHT INTERACTIVE FILTER</a:t>
            </a:r>
            <a:endParaRPr lang="en-IN"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0BAB16B5-55C9-E70B-7F40-36D455D5DAB4}"/>
              </a:ext>
            </a:extLst>
          </p:cNvPr>
          <p:cNvSpPr>
            <a:spLocks noGrp="1"/>
          </p:cNvSpPr>
          <p:nvPr>
            <p:ph idx="1"/>
          </p:nvPr>
        </p:nvSpPr>
        <p:spPr>
          <a:xfrm>
            <a:off x="913795" y="2096064"/>
            <a:ext cx="10353762" cy="4276744"/>
          </a:xfrm>
        </p:spPr>
        <p:txBody>
          <a:bodyPr>
            <a:normAutofit/>
          </a:bodyPr>
          <a:lstStyle/>
          <a:p>
            <a:r>
              <a:rPr lang="en-US" sz="1800" dirty="0">
                <a:latin typeface="Times New Roman" panose="02020603050405020304" pitchFamily="18" charset="0"/>
                <a:cs typeface="Times New Roman" panose="02020603050405020304" pitchFamily="18" charset="0"/>
              </a:rPr>
              <a:t>To create a source sheet, a Symbol Map visualization graph is selected to be constructed using Latitude and Longitude attributes along with the countries and areas selected.</a:t>
            </a:r>
          </a:p>
          <a:p>
            <a:r>
              <a:rPr lang="en-US" sz="1800" dirty="0">
                <a:latin typeface="Times New Roman" panose="02020603050405020304" pitchFamily="18" charset="0"/>
                <a:cs typeface="Times New Roman" panose="02020603050405020304" pitchFamily="18" charset="0"/>
              </a:rPr>
              <a:t>Add actions to the worksheet, select highlight action and choose select option and click ok. In this way, the highlight interactive filter is added to the visualization graph. Select the country and observe the result in the target sheet constructed.</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9E3489F-D620-E0DD-404C-25C02C157C06}"/>
              </a:ext>
            </a:extLst>
          </p:cNvPr>
          <p:cNvPicPr>
            <a:picLocks noChangeAspect="1"/>
          </p:cNvPicPr>
          <p:nvPr/>
        </p:nvPicPr>
        <p:blipFill>
          <a:blip r:embed="rId2"/>
          <a:stretch>
            <a:fillRect/>
          </a:stretch>
        </p:blipFill>
        <p:spPr>
          <a:xfrm>
            <a:off x="4086808" y="3629608"/>
            <a:ext cx="4982547" cy="2435290"/>
          </a:xfrm>
          <a:prstGeom prst="rect">
            <a:avLst/>
          </a:prstGeom>
        </p:spPr>
      </p:pic>
    </p:spTree>
    <p:extLst>
      <p:ext uri="{BB962C8B-B14F-4D97-AF65-F5344CB8AC3E}">
        <p14:creationId xmlns:p14="http://schemas.microsoft.com/office/powerpoint/2010/main" val="627270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0CE88-1BDB-6795-439A-9ADF17FDB044}"/>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Side by side bar graph – USING HIGHLIGHT INTERACTIVE FILTER</a:t>
            </a:r>
            <a:endParaRPr lang="en-IN" dirty="0"/>
          </a:p>
        </p:txBody>
      </p:sp>
      <p:sp>
        <p:nvSpPr>
          <p:cNvPr id="3" name="Content Placeholder 2">
            <a:extLst>
              <a:ext uri="{FF2B5EF4-FFF2-40B4-BE49-F238E27FC236}">
                <a16:creationId xmlns:a16="http://schemas.microsoft.com/office/drawing/2014/main" id="{3EC4ECB4-8E9D-B19D-9203-657CE7E8B4E1}"/>
              </a:ext>
            </a:extLst>
          </p:cNvPr>
          <p:cNvSpPr>
            <a:spLocks noGrp="1"/>
          </p:cNvSpPr>
          <p:nvPr>
            <p:ph idx="1"/>
          </p:nvPr>
        </p:nvSpPr>
        <p:spPr>
          <a:xfrm>
            <a:off x="913795" y="2096064"/>
            <a:ext cx="10353762" cy="4220760"/>
          </a:xfrm>
        </p:spPr>
        <p:txBody>
          <a:bodyPr/>
          <a:lstStyle/>
          <a:p>
            <a:r>
              <a:rPr lang="en-US" sz="2000" dirty="0">
                <a:latin typeface="Times New Roman" panose="02020603050405020304" pitchFamily="18" charset="0"/>
                <a:cs typeface="Times New Roman" panose="02020603050405020304" pitchFamily="18" charset="0"/>
              </a:rPr>
              <a:t>To create a target sheet, a side by side bar visualization graph is selected to be constructed using measure names and measure values attributes along with the countries and areas selected.</a:t>
            </a:r>
          </a:p>
          <a:p>
            <a:r>
              <a:rPr lang="en-US" dirty="0">
                <a:latin typeface="Times New Roman" panose="02020603050405020304" pitchFamily="18" charset="0"/>
                <a:cs typeface="Times New Roman" panose="02020603050405020304" pitchFamily="18" charset="0"/>
              </a:rPr>
              <a:t>After clicking on India, on the source sheet the changes are observed on target sheet. It displays only India’s education data which is the highlighted part.</a:t>
            </a:r>
            <a:endParaRPr lang="en-IN" dirty="0"/>
          </a:p>
        </p:txBody>
      </p:sp>
      <p:pic>
        <p:nvPicPr>
          <p:cNvPr id="4" name="Picture 3">
            <a:extLst>
              <a:ext uri="{FF2B5EF4-FFF2-40B4-BE49-F238E27FC236}">
                <a16:creationId xmlns:a16="http://schemas.microsoft.com/office/drawing/2014/main" id="{346F13F6-983C-2B0F-72AC-478DCF3AB9B9}"/>
              </a:ext>
            </a:extLst>
          </p:cNvPr>
          <p:cNvPicPr>
            <a:picLocks noChangeAspect="1"/>
          </p:cNvPicPr>
          <p:nvPr/>
        </p:nvPicPr>
        <p:blipFill>
          <a:blip r:embed="rId2"/>
          <a:stretch>
            <a:fillRect/>
          </a:stretch>
        </p:blipFill>
        <p:spPr>
          <a:xfrm>
            <a:off x="2995127" y="3741575"/>
            <a:ext cx="6083559" cy="2360645"/>
          </a:xfrm>
          <a:prstGeom prst="rect">
            <a:avLst/>
          </a:prstGeom>
        </p:spPr>
      </p:pic>
    </p:spTree>
    <p:extLst>
      <p:ext uri="{BB962C8B-B14F-4D97-AF65-F5344CB8AC3E}">
        <p14:creationId xmlns:p14="http://schemas.microsoft.com/office/powerpoint/2010/main" val="2441112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0291D-CD48-441C-C5E6-123CA077C550}"/>
              </a:ext>
            </a:extLst>
          </p:cNvPr>
          <p:cNvSpPr>
            <a:spLocks noGrp="1"/>
          </p:cNvSpPr>
          <p:nvPr>
            <p:ph type="title"/>
          </p:nvPr>
        </p:nvSpPr>
        <p:spPr>
          <a:xfrm>
            <a:off x="913795" y="609601"/>
            <a:ext cx="10353761" cy="457200"/>
          </a:xfrm>
        </p:spPr>
        <p:txBody>
          <a:bodyPr>
            <a:noAutofit/>
          </a:bodyPr>
          <a:lstStyle/>
          <a:p>
            <a:r>
              <a:rPr lang="en-US" sz="3600" dirty="0">
                <a:latin typeface="Times New Roman" panose="02020603050405020304" pitchFamily="18" charset="0"/>
                <a:cs typeface="Times New Roman" panose="02020603050405020304" pitchFamily="18" charset="0"/>
              </a:rPr>
              <a:t>Dashboard</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250B39-FC62-35F2-B9E4-F254D214E140}"/>
              </a:ext>
            </a:extLst>
          </p:cNvPr>
          <p:cNvSpPr>
            <a:spLocks noGrp="1"/>
          </p:cNvSpPr>
          <p:nvPr>
            <p:ph idx="1"/>
          </p:nvPr>
        </p:nvSpPr>
        <p:spPr>
          <a:xfrm>
            <a:off x="500001" y="1475873"/>
            <a:ext cx="11181348" cy="4981074"/>
          </a:xfrm>
        </p:spPr>
        <p:txBody>
          <a:bodyPr>
            <a:normAutofit/>
          </a:bodyPr>
          <a:lstStyle/>
          <a:p>
            <a:pPr>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One more visualization graph Pie chart is created.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Calibri" panose="020F0502020204030204" pitchFamily="34" charset="0"/>
              </a:rPr>
              <a:t>Create a new dashboard. Drag and drop Scatter Plots sheet consisting data about birth rate, gross primary education and gross tertiary education enrollments at the first section of the page.</a:t>
            </a: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Drag and drop the other sheets side-by-side bar, bar chart, line chart and pie chart which are already created.</a:t>
            </a: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Go to Dashboard menu, click on actions. Add a new action. Select Filter and name the filter.</a:t>
            </a:r>
            <a:endParaRPr lang="en-US" sz="1800" dirty="0">
              <a:effectLst/>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Calibri" panose="020F0502020204030204" pitchFamily="34" charset="0"/>
              </a:rPr>
              <a:t>It displays the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average proficiency calculated with line chart, the literacy rate of youth in ages between 15 and 24 both female and males are represented.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out of school rates of upper secondary female and male ratio along with all the measuring values of attributes in the dataset are displayed.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4629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E900-7EAC-C84C-E417-BD8F23AA0681}"/>
              </a:ext>
            </a:extLst>
          </p:cNvPr>
          <p:cNvSpPr>
            <a:spLocks noGrp="1"/>
          </p:cNvSpPr>
          <p:nvPr>
            <p:ph type="title"/>
          </p:nvPr>
        </p:nvSpPr>
        <p:spPr>
          <a:xfrm>
            <a:off x="913795" y="609601"/>
            <a:ext cx="10353761" cy="528734"/>
          </a:xfrm>
        </p:spPr>
        <p:txBody>
          <a:bodyPr>
            <a:normAutofit fontScale="90000"/>
          </a:bodyPr>
          <a:lstStyle/>
          <a:p>
            <a:r>
              <a:rPr lang="en-US" sz="3600" dirty="0">
                <a:latin typeface="Times New Roman" panose="02020603050405020304" pitchFamily="18" charset="0"/>
                <a:cs typeface="Times New Roman" panose="02020603050405020304" pitchFamily="18" charset="0"/>
              </a:rPr>
              <a:t>Result</a:t>
            </a:r>
            <a:endParaRPr lang="en-IN"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CFF8552-3948-05F3-3A28-AD3F1EB540C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06655" y="1658193"/>
            <a:ext cx="7968040" cy="4316838"/>
          </a:xfrm>
          <a:prstGeom prst="rect">
            <a:avLst/>
          </a:prstGeom>
        </p:spPr>
      </p:pic>
    </p:spTree>
    <p:extLst>
      <p:ext uri="{BB962C8B-B14F-4D97-AF65-F5344CB8AC3E}">
        <p14:creationId xmlns:p14="http://schemas.microsoft.com/office/powerpoint/2010/main" val="3158544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3D723-DFEC-D4E8-FEF1-6309D5C9D101}"/>
              </a:ext>
            </a:extLst>
          </p:cNvPr>
          <p:cNvSpPr>
            <a:spLocks noGrp="1"/>
          </p:cNvSpPr>
          <p:nvPr>
            <p:ph type="title"/>
          </p:nvPr>
        </p:nvSpPr>
        <p:spPr>
          <a:xfrm>
            <a:off x="913795" y="609600"/>
            <a:ext cx="10353761" cy="1396482"/>
          </a:xfrm>
        </p:spPr>
        <p:txBody>
          <a:bodyPr>
            <a:normAutofit/>
          </a:bodyPr>
          <a:lstStyle/>
          <a:p>
            <a:r>
              <a:rPr lang="en-US" sz="3600" dirty="0">
                <a:latin typeface="Times New Roman" panose="02020603050405020304" pitchFamily="18" charset="0"/>
                <a:cs typeface="Times New Roman" panose="02020603050405020304" pitchFamily="18" charset="0"/>
              </a:rPr>
              <a:t>Conclusion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D01B74-1DC7-3FC5-79E5-CC3A9983561A}"/>
              </a:ext>
            </a:extLst>
          </p:cNvPr>
          <p:cNvSpPr>
            <a:spLocks noGrp="1"/>
          </p:cNvSpPr>
          <p:nvPr>
            <p:ph idx="1"/>
          </p:nvPr>
        </p:nvSpPr>
        <p:spPr>
          <a:xfrm>
            <a:off x="913795" y="1698172"/>
            <a:ext cx="10353762" cy="4093028"/>
          </a:xfrm>
        </p:spPr>
        <p:txBody>
          <a:bodyPr>
            <a:normAutofit fontScale="92500" lnSpcReduction="20000"/>
          </a:bodyPr>
          <a:lstStyle/>
          <a:p>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This project helps us to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analyze</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dataset about education in different countries of the world. </a:t>
            </a:r>
          </a:p>
          <a:p>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It includes about the birthrate, gross primary and tertiary education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enrollments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out of school rates of male and female, unemployment rate, literacy rate of youths. </a:t>
            </a:r>
          </a:p>
          <a:p>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Furthermore, it provides a clear understanding about educational aspects of data which are collected globally across the world.</a:t>
            </a:r>
          </a:p>
          <a:p>
            <a:pPr marL="0" indent="0">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600" u="sng" kern="100" dirty="0">
                <a:effectLst/>
                <a:latin typeface="Times New Roman" panose="02020603050405020304" pitchFamily="18" charset="0"/>
                <a:ea typeface="Calibri" panose="020F0502020204030204" pitchFamily="34" charset="0"/>
                <a:cs typeface="Times New Roman" panose="02020603050405020304" pitchFamily="18" charset="0"/>
              </a:rPr>
              <a:t>FOR EXPLORATORY DATA ANALYSIS:</a:t>
            </a:r>
          </a:p>
          <a:p>
            <a:r>
              <a:rPr lang="en-IN" dirty="0"/>
              <a:t>The link is given below:</a:t>
            </a:r>
          </a:p>
          <a:p>
            <a:pPr marL="0" indent="0">
              <a:buNone/>
            </a:pPr>
            <a:r>
              <a:rPr lang="en-IN" dirty="0">
                <a:hlinkClick r:id="rId2">
                  <a:extLst>
                    <a:ext uri="{A12FA001-AC4F-418D-AE19-62706E023703}">
                      <ahyp:hlinkClr xmlns:ahyp="http://schemas.microsoft.com/office/drawing/2018/hyperlinkcolor" val="tx"/>
                    </a:ext>
                  </a:extLst>
                </a:hlinkClick>
              </a:rPr>
              <a:t>https://colab.research.google.com/drive/1JPoHrvgkhcqxaBZi595htsJfykFUwkDb?usp=sharing</a:t>
            </a:r>
            <a:br>
              <a:rPr lang="en-IN" dirty="0"/>
            </a:br>
            <a:endParaRPr lang="en-IN" dirty="0"/>
          </a:p>
        </p:txBody>
      </p:sp>
    </p:spTree>
    <p:extLst>
      <p:ext uri="{BB962C8B-B14F-4D97-AF65-F5344CB8AC3E}">
        <p14:creationId xmlns:p14="http://schemas.microsoft.com/office/powerpoint/2010/main" val="2528261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31312-68F8-67B6-093A-B227C53A0603}"/>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REFERENCES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920ADF-779D-5AEE-609C-52D7C549F331}"/>
              </a:ext>
            </a:extLst>
          </p:cNvPr>
          <p:cNvSpPr>
            <a:spLocks noGrp="1"/>
          </p:cNvSpPr>
          <p:nvPr>
            <p:ph idx="1"/>
          </p:nvPr>
        </p:nvSpPr>
        <p:spPr>
          <a:xfrm>
            <a:off x="913795" y="1935921"/>
            <a:ext cx="10353762" cy="3855279"/>
          </a:xfrm>
        </p:spPr>
        <p:txBody>
          <a:bodyPr/>
          <a:lstStyle/>
          <a:p>
            <a:pPr marL="342900" marR="0" lvl="0" indent="-342900">
              <a:lnSpc>
                <a:spcPct val="107000"/>
              </a:lnSpc>
              <a:spcBef>
                <a:spcPts val="0"/>
              </a:spcBef>
              <a:spcAft>
                <a:spcPts val="120"/>
              </a:spcAft>
              <a:buFont typeface="+mj-lt"/>
              <a:buAutoNum type="arabicParenR"/>
              <a:tabLst>
                <a:tab pos="457200" algn="l"/>
              </a:tabLst>
            </a:pP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"The Global Teacher Project"</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 Globalteacher.org.uk</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Retrieved 2015-05-20</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
              </a:spcAft>
              <a:buFont typeface="+mj-lt"/>
              <a:buAutoNum type="arabicParenR"/>
              <a:tabLst>
                <a:tab pos="457200" algn="l"/>
              </a:tabLst>
            </a:pP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3" tooltip="Jump up">
                  <a:extLst>
                    <a:ext uri="{A12FA001-AC4F-418D-AE19-62706E023703}">
                      <ahyp:hlinkClr xmlns:ahyp="http://schemas.microsoft.com/office/drawing/2018/hyperlinkcolor" val="tx"/>
                    </a:ext>
                  </a:extLst>
                </a:hlinkClick>
              </a:rPr>
              <a:t>^</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"What is global education? | GLEN"</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 Glen-europe.org. Archived from </a:t>
            </a: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the original</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 on 2012-07-30</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Retrieved 2015-05-20</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
              </a:spcAft>
              <a:buFont typeface="+mj-lt"/>
              <a:buAutoNum type="arabicParenR"/>
              <a:tabLst>
                <a:tab pos="457200" algn="l"/>
              </a:tabLst>
            </a:pP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6" tooltip="Jump up">
                  <a:extLst>
                    <a:ext uri="{A12FA001-AC4F-418D-AE19-62706E023703}">
                      <ahyp:hlinkClr xmlns:ahyp="http://schemas.microsoft.com/office/drawing/2018/hyperlinkcolor" val="tx"/>
                    </a:ext>
                  </a:extLst>
                </a:hlinkClick>
              </a:rPr>
              <a:t>^</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Global Education in the U.S. (n.d.). Retrieved April 24, 2016, from </a:t>
            </a: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http://www.nea.org/home/37297.htm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
              </a:spcAft>
              <a:buFont typeface="+mj-lt"/>
              <a:buAutoNum type="arabicParenR"/>
              <a:tabLst>
                <a:tab pos="457200" algn="l"/>
              </a:tabLst>
            </a:pP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Standish, Alex (2014). "What is global education and where is it taking us?". The Curriculum Journal. 25 (2): 166–</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186. </a:t>
            </a: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8" tooltip="Doi (identifier)">
                  <a:extLst>
                    <a:ext uri="{A12FA001-AC4F-418D-AE19-62706E023703}">
                      <ahyp:hlinkClr xmlns:ahyp="http://schemas.microsoft.com/office/drawing/2018/hyperlinkcolor" val="tx"/>
                    </a:ext>
                  </a:extLst>
                </a:hlinkClick>
              </a:rPr>
              <a:t>doi</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9">
                  <a:extLst>
                    <a:ext uri="{A12FA001-AC4F-418D-AE19-62706E023703}">
                      <ahyp:hlinkClr xmlns:ahyp="http://schemas.microsoft.com/office/drawing/2018/hyperlinkcolor" val="tx"/>
                    </a:ext>
                  </a:extLst>
                </a:hlinkClick>
              </a:rPr>
              <a:t>10.1080/09585176.2013.870081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10" tooltip="S2CID (identifier)">
                  <a:extLst>
                    <a:ext uri="{A12FA001-AC4F-418D-AE19-62706E023703}">
                      <ahyp:hlinkClr xmlns:ahyp="http://schemas.microsoft.com/office/drawing/2018/hyperlinkcolor" val="tx"/>
                    </a:ext>
                  </a:extLst>
                </a:hlinkClick>
              </a:rPr>
              <a:t>S2CID</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11">
                  <a:extLst>
                    <a:ext uri="{A12FA001-AC4F-418D-AE19-62706E023703}">
                      <ahyp:hlinkClr xmlns:ahyp="http://schemas.microsoft.com/office/drawing/2018/hyperlinkcolor" val="tx"/>
                    </a:ext>
                  </a:extLst>
                </a:hlinkClick>
              </a:rPr>
              <a:t>143384285</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
              </a:spcAft>
              <a:buFont typeface="+mj-lt"/>
              <a:buAutoNum type="arabicParenR"/>
              <a:tabLst>
                <a:tab pos="45720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Global Education in the U.S. (n.d.). Retrieved April 24, 2016, from </a:t>
            </a:r>
            <a:r>
              <a:rPr lang="en-IN" sz="2000" u="none" strike="noStrike" kern="100" dirty="0">
                <a:effectLst/>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http://www.nea.org/home/37297.htm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8852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BBFBA-56CD-D012-E1DD-70B3E4F02E41}"/>
              </a:ext>
            </a:extLst>
          </p:cNvPr>
          <p:cNvSpPr>
            <a:spLocks noGrp="1"/>
          </p:cNvSpPr>
          <p:nvPr>
            <p:ph type="title"/>
          </p:nvPr>
        </p:nvSpPr>
        <p:spPr>
          <a:xfrm>
            <a:off x="913795" y="609600"/>
            <a:ext cx="10353761" cy="4186335"/>
          </a:xfrm>
        </p:spPr>
        <p:txBody>
          <a:bodyPr>
            <a:normAutofit/>
          </a:bodyPr>
          <a:lstStyle/>
          <a:p>
            <a:br>
              <a:rPr lang="en-IN" dirty="0"/>
            </a:br>
            <a:br>
              <a:rPr lang="en-IN" dirty="0"/>
            </a:br>
            <a:r>
              <a:rPr lang="en-IN" sz="6000" dirty="0"/>
              <a:t>THANK YOU</a:t>
            </a:r>
          </a:p>
        </p:txBody>
      </p:sp>
    </p:spTree>
    <p:extLst>
      <p:ext uri="{BB962C8B-B14F-4D97-AF65-F5344CB8AC3E}">
        <p14:creationId xmlns:p14="http://schemas.microsoft.com/office/powerpoint/2010/main" val="13621691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114</TotalTime>
  <Words>1214</Words>
  <Application>Microsoft Office PowerPoint</Application>
  <PresentationFormat>Widescreen</PresentationFormat>
  <Paragraphs>93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Rockwell</vt:lpstr>
      <vt:lpstr>Times New Roman</vt:lpstr>
      <vt:lpstr>Wingdings</vt:lpstr>
      <vt:lpstr>Damask</vt:lpstr>
      <vt:lpstr>INFO 5709 – Data Visualization AND COMMUNICATION  Topic: WORLD EDUCATIONAL DATA  </vt:lpstr>
      <vt:lpstr>Contents:</vt:lpstr>
      <vt:lpstr>Introduction</vt:lpstr>
      <vt:lpstr>Cleaning and exploring the dataset </vt:lpstr>
      <vt:lpstr>Exploratory Data ANALYSIS - PYTHON</vt:lpstr>
      <vt:lpstr>EDA - OOSR FOR PRE-PRIMARY AGE AND PROFICIENCY IN READING AND MATH FOR GRADE 2-3 STUDENTS</vt:lpstr>
      <vt:lpstr>EDA – BIRTH RATE, UNEMPLOYMENT RATE, GROSS PRIMARY EDUCATION AND GROSS TERTIARY EDUCATION ENROLLMENTS</vt:lpstr>
      <vt:lpstr>DATA VISUALIZATION - HYPOTHESIS</vt:lpstr>
      <vt:lpstr>TABLEAU – SCATTER PLOT</vt:lpstr>
      <vt:lpstr>LINE CHART</vt:lpstr>
      <vt:lpstr>BAR CHART</vt:lpstr>
      <vt:lpstr>SYMBOL MAPS – USING HIGHLIGHT INTERACTIVE FILTER</vt:lpstr>
      <vt:lpstr>Side by side bar graph – USING HIGHLIGHT INTERACTIVE FILTER</vt:lpstr>
      <vt:lpstr>Dashboard</vt:lpstr>
      <vt:lpstr>Result</vt:lpstr>
      <vt:lpstr>Conclusion </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 5709 – Data Visualization AND COMMUNICATION  Topic: WORLD EDUCATIONAL DATA  </dc:title>
  <dc:creator>soumyareddy vardhanagari</dc:creator>
  <cp:lastModifiedBy>soumyareddy vardhanagari</cp:lastModifiedBy>
  <cp:revision>2</cp:revision>
  <dcterms:created xsi:type="dcterms:W3CDTF">2023-12-13T22:20:23Z</dcterms:created>
  <dcterms:modified xsi:type="dcterms:W3CDTF">2023-12-14T00:14:32Z</dcterms:modified>
</cp:coreProperties>
</file>