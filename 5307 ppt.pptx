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AD44E0-7E5B-48B3-80C3-E9A26CF36584}" type="datetimeFigureOut">
              <a:rPr lang="en-IN" smtClean="0"/>
              <a:t>08-12-2024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rIns="45720"/>
          <a:lstStyle/>
          <a:p>
            <a:fld id="{C71E5F1D-11A0-4656-9E0E-7308F7D51E78}" type="slidenum">
              <a:rPr lang="en-IN" smtClean="0"/>
              <a:t>‹#›</a:t>
            </a:fld>
            <a:endParaRPr lang="en-IN"/>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044407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AD44E0-7E5B-48B3-80C3-E9A26CF36584}" type="datetimeFigureOut">
              <a:rPr lang="en-IN" smtClean="0"/>
              <a:t>08-12-2024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1E5F1D-11A0-4656-9E0E-7308F7D51E78}" type="slidenum">
              <a:rPr lang="en-IN" smtClean="0"/>
              <a:t>‹#›</a:t>
            </a:fld>
            <a:endParaRPr lang="en-IN"/>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781399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AD44E0-7E5B-48B3-80C3-E9A26CF36584}" type="datetimeFigureOut">
              <a:rPr lang="en-IN" smtClean="0"/>
              <a:t>08-12-2024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1E5F1D-11A0-4656-9E0E-7308F7D51E78}" type="slidenum">
              <a:rPr lang="en-IN" smtClean="0"/>
              <a:t>‹#›</a:t>
            </a:fld>
            <a:endParaRPr lang="en-IN"/>
          </a:p>
        </p:txBody>
      </p:sp>
    </p:spTree>
    <p:extLst>
      <p:ext uri="{BB962C8B-B14F-4D97-AF65-F5344CB8AC3E}">
        <p14:creationId xmlns:p14="http://schemas.microsoft.com/office/powerpoint/2010/main" val="643204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AD44E0-7E5B-48B3-80C3-E9A26CF36584}" type="datetimeFigureOut">
              <a:rPr lang="en-IN" smtClean="0"/>
              <a:t>08-12-2024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71E5F1D-11A0-4656-9E0E-7308F7D51E78}" type="slidenum">
              <a:rPr lang="en-IN" smtClean="0"/>
              <a:t>‹#›</a:t>
            </a:fld>
            <a:endParaRPr lang="en-IN"/>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617686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AD44E0-7E5B-48B3-80C3-E9A26CF36584}" type="datetimeFigureOut">
              <a:rPr lang="en-IN" smtClean="0"/>
              <a:t>08-12-2024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71E5F1D-11A0-4656-9E0E-7308F7D51E78}" type="slidenum">
              <a:rPr lang="en-IN" smtClean="0"/>
              <a:t>‹#›</a:t>
            </a:fld>
            <a:endParaRPr lang="en-IN"/>
          </a:p>
        </p:txBody>
      </p:sp>
    </p:spTree>
    <p:extLst>
      <p:ext uri="{BB962C8B-B14F-4D97-AF65-F5344CB8AC3E}">
        <p14:creationId xmlns:p14="http://schemas.microsoft.com/office/powerpoint/2010/main" val="63752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AD44E0-7E5B-48B3-80C3-E9A26CF36584}" type="datetimeFigureOut">
              <a:rPr lang="en-IN" smtClean="0"/>
              <a:t>08-12-2024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71E5F1D-11A0-4656-9E0E-7308F7D51E78}" type="slidenum">
              <a:rPr lang="en-IN" smtClean="0"/>
              <a:t>‹#›</a:t>
            </a:fld>
            <a:endParaRPr lang="en-IN"/>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669580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B0AD44E0-7E5B-48B3-80C3-E9A26CF36584}" type="datetimeFigureOut">
              <a:rPr lang="en-IN" smtClean="0"/>
              <a:t>08-12-2024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71E5F1D-11A0-4656-9E0E-7308F7D51E78}" type="slidenum">
              <a:rPr lang="en-IN" smtClean="0"/>
              <a:t>‹#›</a:t>
            </a:fld>
            <a:endParaRPr lang="en-IN"/>
          </a:p>
        </p:txBody>
      </p:sp>
    </p:spTree>
    <p:extLst>
      <p:ext uri="{BB962C8B-B14F-4D97-AF65-F5344CB8AC3E}">
        <p14:creationId xmlns:p14="http://schemas.microsoft.com/office/powerpoint/2010/main" val="2187965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0AD44E0-7E5B-48B3-80C3-E9A26CF36584}" type="datetimeFigureOut">
              <a:rPr lang="en-IN" smtClean="0"/>
              <a:t>08-12-2024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71E5F1D-11A0-4656-9E0E-7308F7D51E78}" type="slidenum">
              <a:rPr lang="en-IN" smtClean="0"/>
              <a:t>‹#›</a:t>
            </a:fld>
            <a:endParaRPr lang="en-IN"/>
          </a:p>
        </p:txBody>
      </p:sp>
    </p:spTree>
    <p:extLst>
      <p:ext uri="{BB962C8B-B14F-4D97-AF65-F5344CB8AC3E}">
        <p14:creationId xmlns:p14="http://schemas.microsoft.com/office/powerpoint/2010/main" val="1844177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0AD44E0-7E5B-48B3-80C3-E9A26CF36584}" type="datetimeFigureOut">
              <a:rPr lang="en-IN" smtClean="0"/>
              <a:t>08-12-2024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71E5F1D-11A0-4656-9E0E-7308F7D51E78}" type="slidenum">
              <a:rPr lang="en-IN" smtClean="0"/>
              <a:t>‹#›</a:t>
            </a:fld>
            <a:endParaRPr lang="en-IN"/>
          </a:p>
        </p:txBody>
      </p:sp>
    </p:spTree>
    <p:extLst>
      <p:ext uri="{BB962C8B-B14F-4D97-AF65-F5344CB8AC3E}">
        <p14:creationId xmlns:p14="http://schemas.microsoft.com/office/powerpoint/2010/main" val="1466418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AD44E0-7E5B-48B3-80C3-E9A26CF36584}" type="datetimeFigureOut">
              <a:rPr lang="en-IN" smtClean="0"/>
              <a:t>08-12-2024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1E5F1D-11A0-4656-9E0E-7308F7D51E78}" type="slidenum">
              <a:rPr lang="en-IN" smtClean="0"/>
              <a:t>‹#›</a:t>
            </a:fld>
            <a:endParaRPr lang="en-IN"/>
          </a:p>
        </p:txBody>
      </p:sp>
    </p:spTree>
    <p:extLst>
      <p:ext uri="{BB962C8B-B14F-4D97-AF65-F5344CB8AC3E}">
        <p14:creationId xmlns:p14="http://schemas.microsoft.com/office/powerpoint/2010/main" val="3289045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AD44E0-7E5B-48B3-80C3-E9A26CF36584}" type="datetimeFigureOut">
              <a:rPr lang="en-IN" smtClean="0"/>
              <a:t>08-12-2024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1E5F1D-11A0-4656-9E0E-7308F7D51E78}" type="slidenum">
              <a:rPr lang="en-IN" smtClean="0"/>
              <a:t>‹#›</a:t>
            </a:fld>
            <a:endParaRPr lang="en-IN"/>
          </a:p>
        </p:txBody>
      </p:sp>
    </p:spTree>
    <p:extLst>
      <p:ext uri="{BB962C8B-B14F-4D97-AF65-F5344CB8AC3E}">
        <p14:creationId xmlns:p14="http://schemas.microsoft.com/office/powerpoint/2010/main" val="18519308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B0AD44E0-7E5B-48B3-80C3-E9A26CF36584}" type="datetimeFigureOut">
              <a:rPr lang="en-IN" smtClean="0"/>
              <a:t>08-12-2024</a:t>
            </a:fld>
            <a:endParaRPr lang="en-IN"/>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C71E5F1D-11A0-4656-9E0E-7308F7D51E78}" type="slidenum">
              <a:rPr lang="en-IN" smtClean="0"/>
              <a:t>‹#›</a:t>
            </a:fld>
            <a:endParaRPr lang="en-IN"/>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6603283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36C4E-E75D-684E-4987-D668943193F5}"/>
              </a:ext>
            </a:extLst>
          </p:cNvPr>
          <p:cNvSpPr>
            <a:spLocks noGrp="1"/>
          </p:cNvSpPr>
          <p:nvPr>
            <p:ph type="ctrTitle"/>
          </p:nvPr>
        </p:nvSpPr>
        <p:spPr>
          <a:xfrm>
            <a:off x="1250303" y="3023118"/>
            <a:ext cx="7613780" cy="2603241"/>
          </a:xfrm>
        </p:spPr>
        <p:txBody>
          <a:bodyPr>
            <a:normAutofit fontScale="90000"/>
          </a:bodyPr>
          <a:lstStyle/>
          <a:p>
            <a:r>
              <a:rPr lang="en-IN" sz="4000" dirty="0">
                <a:latin typeface="Times New Roman" panose="02020603050405020304" pitchFamily="18" charset="0"/>
                <a:cs typeface="Times New Roman" panose="02020603050405020304" pitchFamily="18" charset="0"/>
              </a:rPr>
              <a:t>Job Title: "Junior Data Analyst Role at Upen Group“</a:t>
            </a:r>
            <a:br>
              <a:rPr lang="en-IN" sz="4000" dirty="0">
                <a:latin typeface="Times New Roman" panose="02020603050405020304" pitchFamily="18" charset="0"/>
                <a:cs typeface="Times New Roman" panose="02020603050405020304" pitchFamily="18" charset="0"/>
              </a:rPr>
            </a:br>
            <a:br>
              <a:rPr lang="en-IN" sz="4000" dirty="0">
                <a:latin typeface="Times New Roman" panose="02020603050405020304" pitchFamily="18" charset="0"/>
                <a:cs typeface="Times New Roman" panose="02020603050405020304" pitchFamily="18" charset="0"/>
              </a:rPr>
            </a:br>
            <a:br>
              <a:rPr lang="en-IN" sz="4000" dirty="0">
                <a:latin typeface="Times New Roman" panose="02020603050405020304" pitchFamily="18" charset="0"/>
                <a:cs typeface="Times New Roman" panose="02020603050405020304" pitchFamily="18" charset="0"/>
              </a:rPr>
            </a:br>
            <a:r>
              <a:rPr lang="en-IN" sz="4000" dirty="0">
                <a:latin typeface="Times New Roman" panose="02020603050405020304" pitchFamily="18" charset="0"/>
                <a:cs typeface="Times New Roman" panose="02020603050405020304" pitchFamily="18" charset="0"/>
              </a:rPr>
              <a:t>- Soumya </a:t>
            </a:r>
            <a:r>
              <a:rPr lang="en-IN" sz="4000" dirty="0" err="1">
                <a:latin typeface="Times New Roman" panose="02020603050405020304" pitchFamily="18" charset="0"/>
                <a:cs typeface="Times New Roman" panose="02020603050405020304" pitchFamily="18" charset="0"/>
              </a:rPr>
              <a:t>Vardhana</a:t>
            </a:r>
            <a:r>
              <a:rPr lang="en-IN" sz="4000" dirty="0">
                <a:latin typeface="Times New Roman" panose="02020603050405020304" pitchFamily="18" charset="0"/>
                <a:cs typeface="Times New Roman" panose="02020603050405020304" pitchFamily="18" charset="0"/>
              </a:rPr>
              <a:t> Gari</a:t>
            </a:r>
          </a:p>
        </p:txBody>
      </p:sp>
      <p:sp>
        <p:nvSpPr>
          <p:cNvPr id="3" name="Subtitle 2">
            <a:extLst>
              <a:ext uri="{FF2B5EF4-FFF2-40B4-BE49-F238E27FC236}">
                <a16:creationId xmlns:a16="http://schemas.microsoft.com/office/drawing/2014/main" id="{1A0BB096-9BB7-F8FC-64C0-5195E8585EFA}"/>
              </a:ext>
            </a:extLst>
          </p:cNvPr>
          <p:cNvSpPr>
            <a:spLocks noGrp="1"/>
          </p:cNvSpPr>
          <p:nvPr>
            <p:ph type="subTitle" idx="1"/>
          </p:nvPr>
        </p:nvSpPr>
        <p:spPr>
          <a:xfrm>
            <a:off x="2772274" y="1160442"/>
            <a:ext cx="5357600" cy="1162879"/>
          </a:xfrm>
        </p:spPr>
        <p:txBody>
          <a:bodyPr>
            <a:normAutofit/>
          </a:bodyPr>
          <a:lstStyle/>
          <a:p>
            <a:pPr algn="ctr"/>
            <a:r>
              <a:rPr lang="en-US" sz="2400" dirty="0">
                <a:latin typeface="Times New Roman" panose="02020603050405020304" pitchFamily="18" charset="0"/>
                <a:cs typeface="Times New Roman" panose="02020603050405020304" pitchFamily="18" charset="0"/>
              </a:rPr>
              <a:t>INFO 5307 - Knowledge Management Tools and Technologies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6942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356BC-F409-553B-078D-0615443CE379}"/>
              </a:ext>
            </a:extLst>
          </p:cNvPr>
          <p:cNvSpPr>
            <a:spLocks noGrp="1"/>
          </p:cNvSpPr>
          <p:nvPr>
            <p:ph type="title"/>
          </p:nvPr>
        </p:nvSpPr>
        <p:spPr>
          <a:xfrm>
            <a:off x="2611808" y="485192"/>
            <a:ext cx="7958331" cy="699796"/>
          </a:xfrm>
        </p:spPr>
        <p:txBody>
          <a:bodyPr>
            <a:normAutofit/>
          </a:bodyPr>
          <a:lstStyle/>
          <a:p>
            <a:pPr algn="ctr"/>
            <a:r>
              <a:rPr lang="en-US" sz="3600" dirty="0">
                <a:latin typeface="Times New Roman" panose="02020603050405020304" pitchFamily="18" charset="0"/>
                <a:cs typeface="Times New Roman" panose="02020603050405020304" pitchFamily="18" charset="0"/>
              </a:rPr>
              <a:t>Introduction</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8E9E603-2FE9-3BF9-5242-6DF52D5FC3B3}"/>
              </a:ext>
            </a:extLst>
          </p:cNvPr>
          <p:cNvSpPr>
            <a:spLocks noGrp="1"/>
          </p:cNvSpPr>
          <p:nvPr>
            <p:ph idx="1"/>
          </p:nvPr>
        </p:nvSpPr>
        <p:spPr>
          <a:xfrm>
            <a:off x="1912776" y="1287623"/>
            <a:ext cx="8657363" cy="4833259"/>
          </a:xfrm>
        </p:spPr>
        <p:txBody>
          <a:bodyPr>
            <a:noAutofit/>
          </a:bodyPr>
          <a:lstStyle/>
          <a:p>
            <a:pPr marL="0" indent="0" algn="just">
              <a:buNone/>
            </a:pPr>
            <a:r>
              <a:rPr lang="en-US" sz="1800" dirty="0">
                <a:latin typeface="Times New Roman" panose="02020603050405020304" pitchFamily="18" charset="0"/>
                <a:cs typeface="Times New Roman" panose="02020603050405020304" pitchFamily="18" charset="0"/>
              </a:rPr>
              <a:t>T</a:t>
            </a:r>
            <a:r>
              <a:rPr lang="en-US" sz="1800" b="0" i="0" dirty="0">
                <a:effectLst/>
                <a:latin typeface="Times New Roman" panose="02020603050405020304" pitchFamily="18" charset="0"/>
                <a:cs typeface="Times New Roman" panose="02020603050405020304" pitchFamily="18" charset="0"/>
              </a:rPr>
              <a:t>his job talk, proposes the use of data analysis and knowledge management tools to address some business challenges in banking and financial industry.</a:t>
            </a:r>
          </a:p>
          <a:p>
            <a:pPr marL="0" indent="0" algn="just">
              <a:buNone/>
            </a:pPr>
            <a:r>
              <a:rPr lang="en-US" sz="1800" b="0" i="0" u="sng" dirty="0">
                <a:effectLst/>
                <a:latin typeface="Times New Roman" panose="02020603050405020304" pitchFamily="18" charset="0"/>
                <a:cs typeface="Times New Roman" panose="02020603050405020304" pitchFamily="18" charset="0"/>
              </a:rPr>
              <a:t>Role Relevance: </a:t>
            </a:r>
            <a:r>
              <a:rPr lang="en-US" sz="1800" b="0" i="0" dirty="0">
                <a:effectLst/>
                <a:latin typeface="Times New Roman" panose="02020603050405020304" pitchFamily="18" charset="0"/>
                <a:cs typeface="Times New Roman" panose="02020603050405020304" pitchFamily="18" charset="0"/>
              </a:rPr>
              <a:t>Junior Data Analyst in</a:t>
            </a:r>
            <a:r>
              <a:rPr lang="en-US" sz="1800" dirty="0">
                <a:latin typeface="Times New Roman" panose="02020603050405020304" pitchFamily="18" charset="0"/>
                <a:cs typeface="Times New Roman" panose="02020603050405020304" pitchFamily="18" charset="0"/>
              </a:rPr>
              <a:t> Upen Group </a:t>
            </a:r>
            <a:endParaRPr lang="en-US" sz="1800" b="0" i="0" dirty="0">
              <a:effectLst/>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800" b="0" i="0" dirty="0">
                <a:effectLst/>
                <a:latin typeface="Times New Roman" panose="02020603050405020304" pitchFamily="18" charset="0"/>
                <a:cs typeface="Times New Roman" panose="02020603050405020304" pitchFamily="18" charset="0"/>
              </a:rPr>
              <a:t>The main role of a Junior Data Analyst </a:t>
            </a:r>
            <a:r>
              <a:rPr lang="en-US" sz="1800" dirty="0">
                <a:latin typeface="Times New Roman" panose="02020603050405020304" pitchFamily="18" charset="0"/>
                <a:cs typeface="Times New Roman" panose="02020603050405020304" pitchFamily="18" charset="0"/>
              </a:rPr>
              <a:t>involves primary tasks such as data </a:t>
            </a:r>
            <a:r>
              <a:rPr lang="en-US" sz="1800" b="0" i="0" dirty="0">
                <a:effectLst/>
                <a:latin typeface="Times New Roman" panose="02020603050405020304" pitchFamily="18" charset="0"/>
                <a:cs typeface="Times New Roman" panose="02020603050405020304" pitchFamily="18" charset="0"/>
              </a:rPr>
              <a:t>analysis, reporting and presentation of the insights that could be used to enhance the performance of products.</a:t>
            </a:r>
          </a:p>
          <a:p>
            <a:pPr algn="just">
              <a:buFont typeface="Wingdings" panose="05000000000000000000" pitchFamily="2" charset="2"/>
              <a:buChar char="v"/>
            </a:pPr>
            <a:r>
              <a:rPr lang="en-US" sz="1800" b="0" i="0" dirty="0">
                <a:effectLst/>
                <a:latin typeface="Times New Roman" panose="02020603050405020304" pitchFamily="18" charset="0"/>
                <a:cs typeface="Times New Roman" panose="02020603050405020304" pitchFamily="18" charset="0"/>
              </a:rPr>
              <a:t> In my recent project, I tackled a real-world business challenge. </a:t>
            </a:r>
          </a:p>
          <a:p>
            <a:pPr algn="just">
              <a:buFont typeface="Wingdings" panose="05000000000000000000" pitchFamily="2" charset="2"/>
              <a:buChar char="v"/>
            </a:pPr>
            <a:r>
              <a:rPr lang="en-US" sz="1800" b="0" i="0" dirty="0">
                <a:effectLst/>
                <a:latin typeface="Times New Roman" panose="02020603050405020304" pitchFamily="18" charset="0"/>
                <a:cs typeface="Times New Roman" panose="02020603050405020304" pitchFamily="18" charset="0"/>
              </a:rPr>
              <a:t>The research topic focuses on customer churn in the banking sector. I worked with a customer data of 10000 records from Kaggle and analyzed the data to find out drivers of churn and solutions to it. I see a correlation of this experience with the Upen Group’s goal of writing strategic policy for decision making and working with stakeholders.</a:t>
            </a:r>
          </a:p>
          <a:p>
            <a:pPr marL="0" indent="0" algn="just">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6939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21BC-AA9D-6941-C0C4-CD84AFAA5486}"/>
              </a:ext>
            </a:extLst>
          </p:cNvPr>
          <p:cNvSpPr>
            <a:spLocks noGrp="1"/>
          </p:cNvSpPr>
          <p:nvPr>
            <p:ph type="title"/>
          </p:nvPr>
        </p:nvSpPr>
        <p:spPr>
          <a:xfrm>
            <a:off x="2611808" y="808057"/>
            <a:ext cx="7958331" cy="619528"/>
          </a:xfrm>
        </p:spPr>
        <p:txBody>
          <a:bodyPr>
            <a:normAutofit/>
          </a:bodyPr>
          <a:lstStyle/>
          <a:p>
            <a:pPr algn="ctr"/>
            <a:r>
              <a:rPr lang="en-US" sz="3600" dirty="0">
                <a:latin typeface="Times New Roman" panose="02020603050405020304" pitchFamily="18" charset="0"/>
                <a:cs typeface="Times New Roman" panose="02020603050405020304" pitchFamily="18" charset="0"/>
              </a:rPr>
              <a:t>Problem Definition</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57F55F6-9AF9-C422-C3E3-87EC7FB99E62}"/>
              </a:ext>
            </a:extLst>
          </p:cNvPr>
          <p:cNvSpPr>
            <a:spLocks noGrp="1"/>
          </p:cNvSpPr>
          <p:nvPr>
            <p:ph idx="1"/>
          </p:nvPr>
        </p:nvSpPr>
        <p:spPr>
          <a:xfrm>
            <a:off x="2118049" y="1567543"/>
            <a:ext cx="8452090" cy="4482401"/>
          </a:xfrm>
        </p:spPr>
        <p:txBody>
          <a:bodyPr/>
          <a:lstStyle/>
          <a:p>
            <a:pPr algn="just">
              <a:buFont typeface="Wingdings" panose="05000000000000000000" pitchFamily="2" charset="2"/>
              <a:buChar char="v"/>
            </a:pPr>
            <a:endParaRPr lang="en-US" sz="1800" b="0" i="0" dirty="0">
              <a:effectLst/>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800" b="0" i="0" dirty="0">
                <a:effectLst/>
                <a:latin typeface="Times New Roman" panose="02020603050405020304" pitchFamily="18" charset="0"/>
                <a:cs typeface="Times New Roman" panose="02020603050405020304" pitchFamily="18" charset="0"/>
              </a:rPr>
              <a:t>Customer churn is also deemed major problem of financial institutions. </a:t>
            </a:r>
          </a:p>
          <a:p>
            <a:pPr algn="just">
              <a:buFont typeface="Wingdings" panose="05000000000000000000" pitchFamily="2" charset="2"/>
              <a:buChar char="v"/>
            </a:pPr>
            <a:r>
              <a:rPr lang="en-US" sz="1800" b="0" i="0" dirty="0">
                <a:effectLst/>
                <a:latin typeface="Times New Roman" panose="02020603050405020304" pitchFamily="18" charset="0"/>
                <a:cs typeface="Times New Roman" panose="02020603050405020304" pitchFamily="18" charset="0"/>
              </a:rPr>
              <a:t>High churn rates are not only negative from the perspective of revenue but also in view of the fact that all acquisition costs rise. </a:t>
            </a:r>
          </a:p>
          <a:p>
            <a:pPr algn="just">
              <a:buFont typeface="Wingdings" panose="05000000000000000000" pitchFamily="2" charset="2"/>
              <a:buChar char="v"/>
            </a:pPr>
            <a:r>
              <a:rPr lang="en-US" sz="1800" b="0" i="0" dirty="0">
                <a:effectLst/>
                <a:latin typeface="Times New Roman" panose="02020603050405020304" pitchFamily="18" charset="0"/>
                <a:cs typeface="Times New Roman" panose="02020603050405020304" pitchFamily="18" charset="0"/>
              </a:rPr>
              <a:t>The problem arises in terms of identifying customer actions and behavior, and anticipating who is most likely to churn over. </a:t>
            </a:r>
          </a:p>
          <a:p>
            <a:pPr algn="just">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F</a:t>
            </a:r>
            <a:r>
              <a:rPr lang="en-US" sz="1800" b="0" i="0" dirty="0">
                <a:effectLst/>
                <a:latin typeface="Times New Roman" panose="02020603050405020304" pitchFamily="18" charset="0"/>
                <a:cs typeface="Times New Roman" panose="02020603050405020304" pitchFamily="18" charset="0"/>
              </a:rPr>
              <a:t>or this study, I employed the ‘Bank Customer Churn Dataset’ obtained from Kaggle, which contains the demographic information of the customers, their accounts, and their churn labels. Looking at this dataset, I was able to identify causes of churn and potentially viable strategies for reducing this problem.</a:t>
            </a:r>
          </a:p>
          <a:p>
            <a:pPr marL="0" indent="0" algn="just">
              <a:buNone/>
            </a:pPr>
            <a:endParaRPr lang="en-US" dirty="0">
              <a:solidFill>
                <a:srgbClr val="000000"/>
              </a:solidFill>
              <a:latin typeface="__GeistSans_3a0388"/>
            </a:endParaRPr>
          </a:p>
          <a:p>
            <a:pPr marL="0" indent="0" algn="just">
              <a:buNone/>
            </a:pPr>
            <a:endParaRPr lang="en-US" dirty="0">
              <a:solidFill>
                <a:srgbClr val="000000"/>
              </a:solidFill>
              <a:latin typeface="__GeistSans_3a0388"/>
            </a:endParaRPr>
          </a:p>
        </p:txBody>
      </p:sp>
    </p:spTree>
    <p:extLst>
      <p:ext uri="{BB962C8B-B14F-4D97-AF65-F5344CB8AC3E}">
        <p14:creationId xmlns:p14="http://schemas.microsoft.com/office/powerpoint/2010/main" val="517818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CA6C5-61FC-821B-5874-CC26EE677BAC}"/>
              </a:ext>
            </a:extLst>
          </p:cNvPr>
          <p:cNvSpPr>
            <a:spLocks noGrp="1"/>
          </p:cNvSpPr>
          <p:nvPr>
            <p:ph type="title"/>
          </p:nvPr>
        </p:nvSpPr>
        <p:spPr>
          <a:xfrm>
            <a:off x="2611808" y="643812"/>
            <a:ext cx="7958331" cy="606490"/>
          </a:xfrm>
        </p:spPr>
        <p:txBody>
          <a:bodyPr>
            <a:normAutofit/>
          </a:bodyPr>
          <a:lstStyle/>
          <a:p>
            <a:pPr algn="ctr"/>
            <a:r>
              <a:rPr lang="en-US" sz="3600" dirty="0">
                <a:latin typeface="Times New Roman" panose="02020603050405020304" pitchFamily="18" charset="0"/>
                <a:cs typeface="Times New Roman" panose="02020603050405020304" pitchFamily="18" charset="0"/>
              </a:rPr>
              <a:t>Tools and Techniques</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DB30FB3-BFCD-C293-D907-5478EDF85362}"/>
              </a:ext>
            </a:extLst>
          </p:cNvPr>
          <p:cNvSpPr>
            <a:spLocks noGrp="1"/>
          </p:cNvSpPr>
          <p:nvPr>
            <p:ph idx="1"/>
          </p:nvPr>
        </p:nvSpPr>
        <p:spPr>
          <a:xfrm>
            <a:off x="1567542" y="1250301"/>
            <a:ext cx="9134669" cy="5355771"/>
          </a:xfrm>
        </p:spPr>
        <p:txBody>
          <a:bodyPr>
            <a:noAutofit/>
          </a:bodyPr>
          <a:lstStyle/>
          <a:p>
            <a:pPr algn="just">
              <a:buFont typeface="Wingdings" panose="05000000000000000000" pitchFamily="2" charset="2"/>
              <a:buChar char="v"/>
            </a:pPr>
            <a:r>
              <a:rPr lang="en-US" sz="1800" b="0" i="0" dirty="0">
                <a:effectLst/>
                <a:latin typeface="Times New Roman" panose="02020603050405020304" pitchFamily="18" charset="0"/>
                <a:cs typeface="Times New Roman" panose="02020603050405020304" pitchFamily="18" charset="0"/>
              </a:rPr>
              <a:t>For this project, I followed a structured, data-driven approach. First, I applied the methods of data preprocessing and cleaning in the Python environment pandas and NumPy. </a:t>
            </a:r>
          </a:p>
          <a:p>
            <a:pPr algn="just">
              <a:buFont typeface="Wingdings" panose="05000000000000000000" pitchFamily="2" charset="2"/>
              <a:buChar char="v"/>
            </a:pPr>
            <a:r>
              <a:rPr lang="en-US" sz="1800" b="0" i="0" dirty="0">
                <a:effectLst/>
                <a:latin typeface="Times New Roman" panose="02020603050405020304" pitchFamily="18" charset="0"/>
                <a:cs typeface="Times New Roman" panose="02020603050405020304" pitchFamily="18" charset="0"/>
              </a:rPr>
              <a:t>It also feature engineered categorical variables into dummy variables for model training. Thereafter, I proceeded to use EDA to find out thing like churn based on the account balance and the length of stay. </a:t>
            </a:r>
          </a:p>
          <a:p>
            <a:pPr algn="just">
              <a:buFont typeface="Wingdings" panose="05000000000000000000" pitchFamily="2" charset="2"/>
              <a:buChar char="v"/>
            </a:pPr>
            <a:r>
              <a:rPr lang="en-US" sz="1800" b="0" i="0" dirty="0">
                <a:effectLst/>
                <a:latin typeface="Times New Roman" panose="02020603050405020304" pitchFamily="18" charset="0"/>
                <a:cs typeface="Times New Roman" panose="02020603050405020304" pitchFamily="18" charset="0"/>
              </a:rPr>
              <a:t>To make more sense of these trends, I turned to Python’s matplotlib and seaborn packages to build these graphics. </a:t>
            </a:r>
          </a:p>
          <a:p>
            <a:pPr algn="just">
              <a:buFont typeface="Wingdings" panose="05000000000000000000" pitchFamily="2" charset="2"/>
              <a:buChar char="v"/>
            </a:pPr>
            <a:endParaRPr lang="en-US" sz="1800" b="0" i="0" dirty="0">
              <a:effectLst/>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US" sz="1800" b="0" i="0" dirty="0">
              <a:effectLst/>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US" sz="1800" b="0" i="0" dirty="0">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0E6AD22-F1EE-0C3D-7805-2C6CDD854818}"/>
              </a:ext>
            </a:extLst>
          </p:cNvPr>
          <p:cNvPicPr>
            <a:picLocks noChangeAspect="1"/>
          </p:cNvPicPr>
          <p:nvPr/>
        </p:nvPicPr>
        <p:blipFill>
          <a:blip r:embed="rId2"/>
          <a:stretch>
            <a:fillRect/>
          </a:stretch>
        </p:blipFill>
        <p:spPr>
          <a:xfrm>
            <a:off x="6176865" y="3881535"/>
            <a:ext cx="4381597" cy="2538314"/>
          </a:xfrm>
          <a:prstGeom prst="rect">
            <a:avLst/>
          </a:prstGeom>
        </p:spPr>
      </p:pic>
    </p:spTree>
    <p:extLst>
      <p:ext uri="{BB962C8B-B14F-4D97-AF65-F5344CB8AC3E}">
        <p14:creationId xmlns:p14="http://schemas.microsoft.com/office/powerpoint/2010/main" val="2509584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D5430-6050-5BE5-D3D4-28F589E6D041}"/>
              </a:ext>
            </a:extLst>
          </p:cNvPr>
          <p:cNvSpPr>
            <a:spLocks noGrp="1"/>
          </p:cNvSpPr>
          <p:nvPr>
            <p:ph type="title"/>
          </p:nvPr>
        </p:nvSpPr>
        <p:spPr>
          <a:xfrm>
            <a:off x="2611808" y="808056"/>
            <a:ext cx="7958331" cy="666181"/>
          </a:xfrm>
        </p:spPr>
        <p:txBody>
          <a:bodyPr>
            <a:normAutofit fontScale="90000"/>
          </a:bodyPr>
          <a:lstStyle/>
          <a:p>
            <a:pPr algn="ctr"/>
            <a:r>
              <a:rPr lang="en-US" sz="3600" dirty="0">
                <a:latin typeface="Times New Roman" panose="02020603050405020304" pitchFamily="18" charset="0"/>
                <a:cs typeface="Times New Roman" panose="02020603050405020304" pitchFamily="18" charset="0"/>
              </a:rPr>
              <a:t>Tools and Techniques</a:t>
            </a:r>
            <a:br>
              <a:rPr lang="en-US"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DDA1011-A88E-F02C-7245-D49186FB0820}"/>
              </a:ext>
            </a:extLst>
          </p:cNvPr>
          <p:cNvSpPr>
            <a:spLocks noGrp="1"/>
          </p:cNvSpPr>
          <p:nvPr>
            <p:ph idx="1"/>
          </p:nvPr>
        </p:nvSpPr>
        <p:spPr>
          <a:xfrm>
            <a:off x="1399592" y="1268963"/>
            <a:ext cx="9321281" cy="4780981"/>
          </a:xfrm>
        </p:spPr>
        <p:txBody>
          <a:bodyPr>
            <a:noAutofit/>
          </a:bodyPr>
          <a:lstStyle/>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b="0" i="0" dirty="0">
              <a:effectLst/>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800" b="0" i="0" dirty="0">
                <a:effectLst/>
                <a:latin typeface="Times New Roman" panose="02020603050405020304" pitchFamily="18" charset="0"/>
                <a:cs typeface="Times New Roman" panose="02020603050405020304" pitchFamily="18" charset="0"/>
              </a:rPr>
              <a:t>Next, I predicted churn using machine learning models such as Logistic Regression, Random Forest and Gradient Boosting. </a:t>
            </a:r>
          </a:p>
          <a:p>
            <a:pPr algn="just">
              <a:buFont typeface="Wingdings" panose="05000000000000000000" pitchFamily="2" charset="2"/>
              <a:buChar char="v"/>
            </a:pPr>
            <a:r>
              <a:rPr lang="en-US" sz="1800" b="0" i="0" dirty="0">
                <a:effectLst/>
                <a:latin typeface="Times New Roman" panose="02020603050405020304" pitchFamily="18" charset="0"/>
                <a:cs typeface="Times New Roman" panose="02020603050405020304" pitchFamily="18" charset="0"/>
              </a:rPr>
              <a:t>These models were used to determine potential determinants that included customer traffic frequency and duration of customer association with the firm. </a:t>
            </a:r>
          </a:p>
          <a:p>
            <a:pPr marL="0" indent="0">
              <a:buNone/>
            </a:pPr>
            <a:endParaRPr lang="en-IN" sz="1800" dirty="0"/>
          </a:p>
        </p:txBody>
      </p:sp>
      <p:pic>
        <p:nvPicPr>
          <p:cNvPr id="5" name="Picture 4">
            <a:extLst>
              <a:ext uri="{FF2B5EF4-FFF2-40B4-BE49-F238E27FC236}">
                <a16:creationId xmlns:a16="http://schemas.microsoft.com/office/drawing/2014/main" id="{C0E758B5-D479-7E64-4EA5-5365BB85CBB5}"/>
              </a:ext>
            </a:extLst>
          </p:cNvPr>
          <p:cNvPicPr>
            <a:picLocks noChangeAspect="1"/>
          </p:cNvPicPr>
          <p:nvPr/>
        </p:nvPicPr>
        <p:blipFill>
          <a:blip r:embed="rId2"/>
          <a:stretch>
            <a:fillRect/>
          </a:stretch>
        </p:blipFill>
        <p:spPr>
          <a:xfrm>
            <a:off x="1621586" y="1576874"/>
            <a:ext cx="3993502" cy="2830884"/>
          </a:xfrm>
          <a:prstGeom prst="rect">
            <a:avLst/>
          </a:prstGeom>
        </p:spPr>
      </p:pic>
      <p:pic>
        <p:nvPicPr>
          <p:cNvPr id="7" name="Picture 6">
            <a:extLst>
              <a:ext uri="{FF2B5EF4-FFF2-40B4-BE49-F238E27FC236}">
                <a16:creationId xmlns:a16="http://schemas.microsoft.com/office/drawing/2014/main" id="{0CC4D66F-07E3-EAA2-5762-CA0B9DC0B85B}"/>
              </a:ext>
            </a:extLst>
          </p:cNvPr>
          <p:cNvPicPr>
            <a:picLocks noChangeAspect="1"/>
          </p:cNvPicPr>
          <p:nvPr/>
        </p:nvPicPr>
        <p:blipFill>
          <a:blip r:embed="rId3"/>
          <a:stretch>
            <a:fillRect/>
          </a:stretch>
        </p:blipFill>
        <p:spPr>
          <a:xfrm>
            <a:off x="5837082" y="1576874"/>
            <a:ext cx="4360603" cy="2830883"/>
          </a:xfrm>
          <a:prstGeom prst="rect">
            <a:avLst/>
          </a:prstGeom>
        </p:spPr>
      </p:pic>
    </p:spTree>
    <p:extLst>
      <p:ext uri="{BB962C8B-B14F-4D97-AF65-F5344CB8AC3E}">
        <p14:creationId xmlns:p14="http://schemas.microsoft.com/office/powerpoint/2010/main" val="4264295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E51CA-FAF0-0C9E-DDD6-79FD0C8EC015}"/>
              </a:ext>
            </a:extLst>
          </p:cNvPr>
          <p:cNvSpPr>
            <a:spLocks noGrp="1"/>
          </p:cNvSpPr>
          <p:nvPr>
            <p:ph type="title"/>
          </p:nvPr>
        </p:nvSpPr>
        <p:spPr>
          <a:xfrm>
            <a:off x="2611808" y="808057"/>
            <a:ext cx="7958331" cy="712834"/>
          </a:xfrm>
        </p:spPr>
        <p:txBody>
          <a:bodyPr>
            <a:normAutofit/>
          </a:bodyPr>
          <a:lstStyle/>
          <a:p>
            <a:pPr algn="ctr"/>
            <a:r>
              <a:rPr lang="en-US" sz="3600" dirty="0">
                <a:latin typeface="Times New Roman" panose="02020603050405020304" pitchFamily="18" charset="0"/>
                <a:cs typeface="Times New Roman" panose="02020603050405020304" pitchFamily="18" charset="0"/>
              </a:rPr>
              <a:t>Tools and Techniques</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750AA28-F1CB-03C9-B3B3-A795DD939767}"/>
              </a:ext>
            </a:extLst>
          </p:cNvPr>
          <p:cNvSpPr>
            <a:spLocks noGrp="1"/>
          </p:cNvSpPr>
          <p:nvPr>
            <p:ph idx="1"/>
          </p:nvPr>
        </p:nvSpPr>
        <p:spPr>
          <a:xfrm>
            <a:off x="1726163" y="1455576"/>
            <a:ext cx="8843976" cy="4594368"/>
          </a:xfrm>
        </p:spPr>
        <p:txBody>
          <a:bodyPr>
            <a:normAutofit/>
          </a:bodyPr>
          <a:lstStyle/>
          <a:p>
            <a:pPr algn="just">
              <a:buFont typeface="Wingdings" panose="05000000000000000000" pitchFamily="2" charset="2"/>
              <a:buChar char="v"/>
            </a:pPr>
            <a:r>
              <a:rPr lang="en-US" sz="1800" b="0" i="0" dirty="0">
                <a:effectLst/>
                <a:latin typeface="Times New Roman" panose="02020603050405020304" pitchFamily="18" charset="0"/>
                <a:cs typeface="Times New Roman" panose="02020603050405020304" pitchFamily="18" charset="0"/>
              </a:rPr>
              <a:t>I developed an interactive dashboard by employing Tableau. This let me present the results to various stakeholders in simple forms even for those without constitutions of technical understanding.</a:t>
            </a:r>
          </a:p>
          <a:p>
            <a:pPr marL="0" indent="0" algn="just">
              <a:buNone/>
            </a:pPr>
            <a:endParaRPr lang="en-US" sz="1800" b="0" i="0" dirty="0">
              <a:effectLst/>
              <a:latin typeface="Times New Roman" panose="02020603050405020304" pitchFamily="18" charset="0"/>
              <a:cs typeface="Times New Roman" panose="02020603050405020304" pitchFamily="18" charset="0"/>
            </a:endParaRPr>
          </a:p>
          <a:p>
            <a:pPr algn="just"/>
            <a:endParaRPr lang="en-US" sz="1800" dirty="0">
              <a:solidFill>
                <a:srgbClr val="000000"/>
              </a:solidFill>
              <a:latin typeface="Times New Roman" panose="02020603050405020304" pitchFamily="18" charset="0"/>
              <a:cs typeface="Times New Roman" panose="02020603050405020304" pitchFamily="18" charset="0"/>
            </a:endParaRPr>
          </a:p>
          <a:p>
            <a:pPr algn="just"/>
            <a:endParaRPr lang="en-US" sz="1800" dirty="0">
              <a:solidFill>
                <a:srgbClr val="000000"/>
              </a:solidFill>
              <a:latin typeface="Times New Roman" panose="02020603050405020304" pitchFamily="18" charset="0"/>
              <a:cs typeface="Times New Roman" panose="02020603050405020304" pitchFamily="18" charset="0"/>
            </a:endParaRPr>
          </a:p>
          <a:p>
            <a:pPr algn="just"/>
            <a:endParaRPr lang="en-US" sz="1800" dirty="0">
              <a:solidFill>
                <a:srgbClr val="000000"/>
              </a:solidFill>
              <a:latin typeface="Times New Roman" panose="02020603050405020304" pitchFamily="18" charset="0"/>
              <a:cs typeface="Times New Roman" panose="02020603050405020304" pitchFamily="18" charset="0"/>
            </a:endParaRPr>
          </a:p>
          <a:p>
            <a:pPr algn="just"/>
            <a:endParaRPr lang="en-US" sz="1800" dirty="0">
              <a:solidFill>
                <a:srgbClr val="000000"/>
              </a:solidFill>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309B6DA-F882-74D9-E9BD-E1F00835F2A9}"/>
              </a:ext>
            </a:extLst>
          </p:cNvPr>
          <p:cNvPicPr>
            <a:picLocks noChangeAspect="1"/>
          </p:cNvPicPr>
          <p:nvPr/>
        </p:nvPicPr>
        <p:blipFill>
          <a:blip r:embed="rId2"/>
          <a:stretch>
            <a:fillRect/>
          </a:stretch>
        </p:blipFill>
        <p:spPr>
          <a:xfrm>
            <a:off x="3349182" y="3019968"/>
            <a:ext cx="4541914" cy="3029975"/>
          </a:xfrm>
          <a:prstGeom prst="rect">
            <a:avLst/>
          </a:prstGeom>
        </p:spPr>
      </p:pic>
    </p:spTree>
    <p:extLst>
      <p:ext uri="{BB962C8B-B14F-4D97-AF65-F5344CB8AC3E}">
        <p14:creationId xmlns:p14="http://schemas.microsoft.com/office/powerpoint/2010/main" val="504335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1C658-F853-7B5A-15D1-0DBD1C792D29}"/>
              </a:ext>
            </a:extLst>
          </p:cNvPr>
          <p:cNvSpPr>
            <a:spLocks noGrp="1"/>
          </p:cNvSpPr>
          <p:nvPr>
            <p:ph type="title"/>
          </p:nvPr>
        </p:nvSpPr>
        <p:spPr>
          <a:xfrm>
            <a:off x="2611808" y="597159"/>
            <a:ext cx="7958331" cy="625152"/>
          </a:xfrm>
        </p:spPr>
        <p:txBody>
          <a:bodyPr>
            <a:normAutofit/>
          </a:bodyPr>
          <a:lstStyle/>
          <a:p>
            <a:pPr algn="ctr"/>
            <a:r>
              <a:rPr lang="en-US" sz="3600" dirty="0">
                <a:latin typeface="Times New Roman" panose="02020603050405020304" pitchFamily="18" charset="0"/>
                <a:cs typeface="Times New Roman" panose="02020603050405020304" pitchFamily="18" charset="0"/>
              </a:rPr>
              <a:t>Results and Insights</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52B9E84-97AD-9FB4-8221-8FA220A1586E}"/>
              </a:ext>
            </a:extLst>
          </p:cNvPr>
          <p:cNvSpPr>
            <a:spLocks noGrp="1"/>
          </p:cNvSpPr>
          <p:nvPr>
            <p:ph idx="1"/>
          </p:nvPr>
        </p:nvSpPr>
        <p:spPr>
          <a:xfrm>
            <a:off x="1418252" y="1306286"/>
            <a:ext cx="9395927" cy="5075852"/>
          </a:xfrm>
        </p:spPr>
        <p:txBody>
          <a:bodyPr>
            <a:noAutofit/>
          </a:bodyPr>
          <a:lstStyle/>
          <a:p>
            <a:pPr marL="0" indent="0" algn="just">
              <a:buNone/>
            </a:pPr>
            <a:endParaRPr lang="en-US" sz="1800" b="0" i="0" dirty="0">
              <a:effectLst/>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1800" b="0" i="0" dirty="0">
                <a:effectLst/>
                <a:latin typeface="Times New Roman" panose="02020603050405020304" pitchFamily="18" charset="0"/>
                <a:cs typeface="Times New Roman" panose="02020603050405020304" pitchFamily="18" charset="0"/>
              </a:rPr>
              <a:t>Loyal bank customers that had lower balances and less past account length were more likely churn. To be specific, fewer first quarter active customers left compared with the other months while less credit score customers were more likely to churn. </a:t>
            </a:r>
          </a:p>
          <a:p>
            <a:pPr algn="just">
              <a:buFont typeface="Wingdings" panose="05000000000000000000" pitchFamily="2" charset="2"/>
              <a:buChar char="v"/>
            </a:pPr>
            <a:r>
              <a:rPr lang="en-US" sz="1800" b="0" i="0" dirty="0">
                <a:effectLst/>
                <a:latin typeface="Times New Roman" panose="02020603050405020304" pitchFamily="18" charset="0"/>
                <a:cs typeface="Times New Roman" panose="02020603050405020304" pitchFamily="18" charset="0"/>
              </a:rPr>
              <a:t>The Logistic Regression model had an accuracy of 83% when predicting the non churn customer, while the Random Forest model optimized recall up to 47%, enhancing the possibility of recognizing customers at high risk. </a:t>
            </a:r>
          </a:p>
          <a:p>
            <a:pPr algn="just">
              <a:buFont typeface="Wingdings" panose="05000000000000000000" pitchFamily="2" charset="2"/>
              <a:buChar char="v"/>
            </a:pPr>
            <a:r>
              <a:rPr lang="en-US" sz="1800" b="0" i="0" dirty="0">
                <a:effectLst/>
                <a:latin typeface="Times New Roman" panose="02020603050405020304" pitchFamily="18" charset="0"/>
                <a:cs typeface="Times New Roman" panose="02020603050405020304" pitchFamily="18" charset="0"/>
              </a:rPr>
              <a:t>These insights were presented via a Tableau dashboard. </a:t>
            </a:r>
          </a:p>
          <a:p>
            <a:pPr algn="just">
              <a:buFont typeface="Wingdings" panose="05000000000000000000" pitchFamily="2" charset="2"/>
              <a:buChar char="v"/>
            </a:pPr>
            <a:r>
              <a:rPr lang="en-US" sz="1800" b="0" i="0" dirty="0">
                <a:effectLst/>
                <a:latin typeface="Times New Roman" panose="02020603050405020304" pitchFamily="18" charset="0"/>
                <a:cs typeface="Times New Roman" panose="02020603050405020304" pitchFamily="18" charset="0"/>
              </a:rPr>
              <a:t>For instance, churn comparison per customer segment for better strategy on retention. It shows how I take raw data and analyze it for decision making which will match what Upen Group is looking forward to as a company that would prefer data analysis in its operational processes.</a:t>
            </a:r>
          </a:p>
          <a:p>
            <a:pPr algn="just">
              <a:buFont typeface="Wingdings" panose="05000000000000000000" pitchFamily="2" charset="2"/>
              <a:buChar char="v"/>
            </a:pPr>
            <a:endParaRPr lang="en-US" sz="1800" b="0" i="0" dirty="0">
              <a:effectLst/>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2193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2E400-DEBD-0403-C325-CC29E02C210A}"/>
              </a:ext>
            </a:extLst>
          </p:cNvPr>
          <p:cNvSpPr>
            <a:spLocks noGrp="1"/>
          </p:cNvSpPr>
          <p:nvPr>
            <p:ph type="title"/>
          </p:nvPr>
        </p:nvSpPr>
        <p:spPr>
          <a:xfrm>
            <a:off x="2611808" y="808057"/>
            <a:ext cx="7958331" cy="703502"/>
          </a:xfrm>
        </p:spPr>
        <p:txBody>
          <a:bodyPr>
            <a:noAutofit/>
          </a:bodyPr>
          <a:lstStyle/>
          <a:p>
            <a:pPr algn="ctr"/>
            <a:r>
              <a:rPr lang="en-US" sz="3600" dirty="0">
                <a:latin typeface="Times New Roman" panose="02020603050405020304" pitchFamily="18" charset="0"/>
                <a:cs typeface="Times New Roman" panose="02020603050405020304" pitchFamily="18" charset="0"/>
              </a:rPr>
              <a:t>Conclusion</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AD2CEA8-3EFE-52C2-98BE-C04FF5CAE7DF}"/>
              </a:ext>
            </a:extLst>
          </p:cNvPr>
          <p:cNvSpPr>
            <a:spLocks noGrp="1"/>
          </p:cNvSpPr>
          <p:nvPr>
            <p:ph idx="1"/>
          </p:nvPr>
        </p:nvSpPr>
        <p:spPr>
          <a:xfrm>
            <a:off x="1996751" y="1679510"/>
            <a:ext cx="8573388" cy="4370434"/>
          </a:xfrm>
        </p:spPr>
        <p:txBody>
          <a:bodyPr/>
          <a:lstStyle/>
          <a:p>
            <a:pPr>
              <a:buFont typeface="Wingdings" panose="05000000000000000000" pitchFamily="2" charset="2"/>
              <a:buChar char="v"/>
            </a:pPr>
            <a:endParaRPr lang="en-US" sz="1800" b="0" i="0" dirty="0">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800" b="0" i="0" dirty="0">
                <a:effectLst/>
                <a:latin typeface="Times New Roman" panose="02020603050405020304" pitchFamily="18" charset="0"/>
                <a:cs typeface="Times New Roman" panose="02020603050405020304" pitchFamily="18" charset="0"/>
              </a:rPr>
              <a:t>Altogether the experience of this project can help me to show that I can analyze large datasets, explain the results and choose the correct knowledge management instrument to deal with the emerging problem. </a:t>
            </a:r>
          </a:p>
          <a:p>
            <a:pPr>
              <a:buFont typeface="Wingdings" panose="05000000000000000000" pitchFamily="2" charset="2"/>
              <a:buChar char="v"/>
            </a:pPr>
            <a:r>
              <a:rPr lang="en-US" sz="1800" b="0" i="0" dirty="0">
                <a:effectLst/>
                <a:latin typeface="Times New Roman" panose="02020603050405020304" pitchFamily="18" charset="0"/>
                <a:cs typeface="Times New Roman" panose="02020603050405020304" pitchFamily="18" charset="0"/>
              </a:rPr>
              <a:t>In my current position at Upen Group, I think I can effectively apply my SQL skills together with Tableau to your team.</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b="0" i="0" dirty="0">
              <a:effectLst/>
              <a:latin typeface="Times New Roman" panose="02020603050405020304" pitchFamily="18" charset="0"/>
              <a:cs typeface="Times New Roman" panose="02020603050405020304" pitchFamily="18" charset="0"/>
            </a:endParaRPr>
          </a:p>
          <a:p>
            <a:endParaRPr lang="en-US" dirty="0">
              <a:solidFill>
                <a:srgbClr val="000000"/>
              </a:solidFill>
              <a:latin typeface="__GeistSans_3a0388"/>
            </a:endParaRPr>
          </a:p>
          <a:p>
            <a:endParaRPr lang="en-US" dirty="0">
              <a:solidFill>
                <a:srgbClr val="000000"/>
              </a:solidFill>
              <a:latin typeface="__GeistSans_3a0388"/>
            </a:endParaRPr>
          </a:p>
          <a:p>
            <a:endParaRPr lang="en-IN" dirty="0"/>
          </a:p>
        </p:txBody>
      </p:sp>
    </p:spTree>
    <p:extLst>
      <p:ext uri="{BB962C8B-B14F-4D97-AF65-F5344CB8AC3E}">
        <p14:creationId xmlns:p14="http://schemas.microsoft.com/office/powerpoint/2010/main" val="674190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7B583D-314F-2359-A5B0-AE99F4483411}"/>
              </a:ext>
            </a:extLst>
          </p:cNvPr>
          <p:cNvSpPr>
            <a:spLocks noGrp="1"/>
          </p:cNvSpPr>
          <p:nvPr>
            <p:ph idx="1"/>
          </p:nvPr>
        </p:nvSpPr>
        <p:spPr/>
        <p:txBody>
          <a:bodyPr>
            <a:normAutofit/>
          </a:bodyPr>
          <a:lstStyle/>
          <a:p>
            <a:pPr marL="0" indent="0" algn="ctr">
              <a:buNone/>
            </a:pPr>
            <a:r>
              <a:rPr lang="en-US" sz="6000" dirty="0">
                <a:latin typeface="Times New Roman" panose="02020603050405020304" pitchFamily="18" charset="0"/>
                <a:cs typeface="Times New Roman" panose="02020603050405020304" pitchFamily="18" charset="0"/>
              </a:rPr>
              <a:t>Thank You</a:t>
            </a:r>
          </a:p>
          <a:p>
            <a:pPr marL="0" indent="0" algn="ctr">
              <a:buNone/>
            </a:pPr>
            <a:endParaRPr lang="en-US" sz="6000" dirty="0">
              <a:latin typeface="Times New Roman" panose="02020603050405020304" pitchFamily="18" charset="0"/>
              <a:cs typeface="Times New Roman" panose="02020603050405020304" pitchFamily="18" charset="0"/>
            </a:endParaRPr>
          </a:p>
          <a:p>
            <a:pPr marL="0" indent="0" algn="ctr">
              <a:buNone/>
            </a:pPr>
            <a:endParaRPr lang="en-US" sz="6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984314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Madison</Template>
  <TotalTime>129</TotalTime>
  <Words>662</Words>
  <Application>Microsoft Office PowerPoint</Application>
  <PresentationFormat>Widescreen</PresentationFormat>
  <Paragraphs>51</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__GeistSans_3a0388</vt:lpstr>
      <vt:lpstr>Arial</vt:lpstr>
      <vt:lpstr>MS Shell Dlg 2</vt:lpstr>
      <vt:lpstr>Times New Roman</vt:lpstr>
      <vt:lpstr>Wingdings</vt:lpstr>
      <vt:lpstr>Wingdings 3</vt:lpstr>
      <vt:lpstr>Madison</vt:lpstr>
      <vt:lpstr>Job Title: "Junior Data Analyst Role at Upen Group“   - Soumya Vardhana Gari</vt:lpstr>
      <vt:lpstr>Introduction</vt:lpstr>
      <vt:lpstr>Problem Definition</vt:lpstr>
      <vt:lpstr>Tools and Techniques</vt:lpstr>
      <vt:lpstr>Tools and Techniques </vt:lpstr>
      <vt:lpstr>Tools and Techniques</vt:lpstr>
      <vt:lpstr>Results and Insights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soumyareddy vardhanagari</dc:creator>
  <cp:lastModifiedBy>soumyareddy vardhanagari</cp:lastModifiedBy>
  <cp:revision>1</cp:revision>
  <dcterms:created xsi:type="dcterms:W3CDTF">2024-12-09T04:05:33Z</dcterms:created>
  <dcterms:modified xsi:type="dcterms:W3CDTF">2024-12-09T06:14:43Z</dcterms:modified>
</cp:coreProperties>
</file>